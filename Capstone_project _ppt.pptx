
<file path=[Content_Types].xml><?xml version="1.0" encoding="utf-8"?>
<Types xmlns="http://schemas.openxmlformats.org/package/2006/content-types">
  <Default Extension="emf" ContentType="image/x-emf"/>
  <Default Extension="fntdata" ContentType="application/x-fontdata"/>
  <Default Extension="jpeg" ContentType="image/jpe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sldSz cx="9753600" cy="7315200"/>
  <p:notesSz cx="6858000" cy="9144000"/>
  <p:embeddedFontLst>
    <p:embeddedFont>
      <p:font typeface="Canva Sans" panose="020B0604020202020204" charset="0"/>
      <p:regular r:id="rId12"/>
    </p:embeddedFont>
    <p:embeddedFont>
      <p:font typeface="Canva Sans Bold" panose="020B0604020202020204" charset="0"/>
      <p:regular r:id="rId13"/>
    </p:embeddedFont>
    <p:embeddedFont>
      <p:font typeface="Hero" panose="020B0604020202020204" charset="0"/>
      <p:regular r:id="rId14"/>
    </p:embeddedFont>
    <p:embeddedFont>
      <p:font typeface="Hero Bold" panose="020B0604020202020204" charset="0"/>
      <p:regular r:id="rId1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98" d="100"/>
          <a:sy n="98" d="100"/>
        </p:scale>
        <p:origin x="1788" y="1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2.fntdata"/><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1.fntdata"/><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4.fntdata"/><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3.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25-May-26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25-May-26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25-May-26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25-May-26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25-May-26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25-May-26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25-May-26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25-May-26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25-May-26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25-May-26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25-May-26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25-May-26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svg"/><Relationship Id="rId1" Type="http://schemas.openxmlformats.org/officeDocument/2006/relationships/slideLayout" Target="../slideLayouts/slideLayout7.xml"/><Relationship Id="rId5" Type="http://schemas.openxmlformats.org/officeDocument/2006/relationships/image" Target="../media/image3.emf"/><Relationship Id="rId4" Type="http://schemas.openxmlformats.org/officeDocument/2006/relationships/package" Target="../embeddings/Microsoft_Excel_Worksheet.xlsx"/></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sv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5400000">
            <a:off x="4374295" y="2104078"/>
            <a:ext cx="7483383" cy="3275227"/>
          </a:xfrm>
          <a:custGeom>
            <a:avLst/>
            <a:gdLst/>
            <a:ahLst/>
            <a:cxnLst/>
            <a:rect l="l" t="t" r="r" b="b"/>
            <a:pathLst>
              <a:path w="7483383" h="3275227">
                <a:moveTo>
                  <a:pt x="0" y="0"/>
                </a:moveTo>
                <a:lnTo>
                  <a:pt x="7483383" y="0"/>
                </a:lnTo>
                <a:lnTo>
                  <a:pt x="7483383" y="3275227"/>
                </a:lnTo>
                <a:lnTo>
                  <a:pt x="0" y="3275227"/>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3" name="Freeform 3"/>
          <p:cNvSpPr/>
          <p:nvPr/>
        </p:nvSpPr>
        <p:spPr>
          <a:xfrm>
            <a:off x="250794" y="169534"/>
            <a:ext cx="1068911" cy="1068911"/>
          </a:xfrm>
          <a:custGeom>
            <a:avLst/>
            <a:gdLst/>
            <a:ahLst/>
            <a:cxnLst/>
            <a:rect l="l" t="t" r="r" b="b"/>
            <a:pathLst>
              <a:path w="1068911" h="1068911">
                <a:moveTo>
                  <a:pt x="0" y="0"/>
                </a:moveTo>
                <a:lnTo>
                  <a:pt x="1068911" y="0"/>
                </a:lnTo>
                <a:lnTo>
                  <a:pt x="1068911" y="1068911"/>
                </a:lnTo>
                <a:lnTo>
                  <a:pt x="0" y="1068911"/>
                </a:lnTo>
                <a:lnTo>
                  <a:pt x="0" y="0"/>
                </a:lnTo>
                <a:close/>
              </a:path>
            </a:pathLst>
          </a:custGeom>
          <a:blipFill>
            <a:blip r:embed="rId3"/>
            <a:stretch>
              <a:fillRect/>
            </a:stretch>
          </a:blipFill>
        </p:spPr>
      </p:sp>
      <p:sp>
        <p:nvSpPr>
          <p:cNvPr id="4" name="TextBox 4"/>
          <p:cNvSpPr txBox="1"/>
          <p:nvPr/>
        </p:nvSpPr>
        <p:spPr>
          <a:xfrm>
            <a:off x="2133600" y="4745011"/>
            <a:ext cx="4570452" cy="306070"/>
          </a:xfrm>
          <a:prstGeom prst="rect">
            <a:avLst/>
          </a:prstGeom>
        </p:spPr>
        <p:txBody>
          <a:bodyPr lIns="0" tIns="0" rIns="0" bIns="0" rtlCol="0" anchor="t">
            <a:spAutoFit/>
          </a:bodyPr>
          <a:lstStyle/>
          <a:p>
            <a:pPr algn="ctr">
              <a:lnSpc>
                <a:spcPts val="2299"/>
              </a:lnSpc>
              <a:spcBef>
                <a:spcPct val="0"/>
              </a:spcBef>
            </a:pPr>
            <a:r>
              <a:rPr lang="en-US" sz="2299" dirty="0">
                <a:solidFill>
                  <a:srgbClr val="000000"/>
                </a:solidFill>
                <a:latin typeface="Hero Bold"/>
                <a:ea typeface="Hero Bold"/>
                <a:cs typeface="Hero Bold"/>
                <a:sym typeface="Hero Bold"/>
              </a:rPr>
              <a:t>Domain Name: Booking System</a:t>
            </a:r>
            <a:r>
              <a:rPr lang="en-US" sz="2299" dirty="0">
                <a:solidFill>
                  <a:srgbClr val="000000"/>
                </a:solidFill>
                <a:latin typeface="Hero"/>
                <a:ea typeface="Hero"/>
                <a:cs typeface="Hero"/>
                <a:sym typeface="Hero"/>
              </a:rPr>
              <a:t> </a:t>
            </a:r>
          </a:p>
        </p:txBody>
      </p:sp>
      <p:sp>
        <p:nvSpPr>
          <p:cNvPr id="5" name="TextBox 5"/>
          <p:cNvSpPr txBox="1"/>
          <p:nvPr/>
        </p:nvSpPr>
        <p:spPr>
          <a:xfrm>
            <a:off x="1227597" y="1936461"/>
            <a:ext cx="5630403" cy="387798"/>
          </a:xfrm>
          <a:prstGeom prst="rect">
            <a:avLst/>
          </a:prstGeom>
        </p:spPr>
        <p:txBody>
          <a:bodyPr wrap="square" lIns="0" tIns="0" rIns="0" bIns="0" rtlCol="0" anchor="t">
            <a:spAutoFit/>
          </a:bodyPr>
          <a:lstStyle/>
          <a:p>
            <a:pPr algn="ctr">
              <a:lnSpc>
                <a:spcPts val="2999"/>
              </a:lnSpc>
              <a:spcBef>
                <a:spcPct val="0"/>
              </a:spcBef>
            </a:pPr>
            <a:r>
              <a:rPr lang="en-US" sz="2999" b="1" dirty="0">
                <a:solidFill>
                  <a:srgbClr val="000000"/>
                </a:solidFill>
                <a:latin typeface="Canva Sans Bold"/>
                <a:ea typeface="Canva Sans Bold"/>
                <a:cs typeface="Canva Sans Bold"/>
                <a:sym typeface="Canva Sans Bold"/>
              </a:rPr>
              <a:t>WIPRO CAPSTONE PROJECT</a:t>
            </a:r>
          </a:p>
        </p:txBody>
      </p:sp>
      <p:sp>
        <p:nvSpPr>
          <p:cNvPr id="6" name="TextBox 6"/>
          <p:cNvSpPr txBox="1"/>
          <p:nvPr/>
        </p:nvSpPr>
        <p:spPr>
          <a:xfrm>
            <a:off x="914400" y="2726822"/>
            <a:ext cx="6765370" cy="1509579"/>
          </a:xfrm>
          <a:prstGeom prst="rect">
            <a:avLst/>
          </a:prstGeom>
        </p:spPr>
        <p:txBody>
          <a:bodyPr lIns="0" tIns="0" rIns="0" bIns="0" rtlCol="0" anchor="t">
            <a:spAutoFit/>
          </a:bodyPr>
          <a:lstStyle/>
          <a:p>
            <a:pPr algn="ctr">
              <a:lnSpc>
                <a:spcPts val="3932"/>
              </a:lnSpc>
              <a:spcBef>
                <a:spcPct val="0"/>
              </a:spcBef>
            </a:pPr>
            <a:r>
              <a:rPr lang="en-US" sz="3932" b="1" dirty="0">
                <a:solidFill>
                  <a:srgbClr val="000000"/>
                </a:solidFill>
                <a:latin typeface="Canva Sans Bold"/>
                <a:ea typeface="Canva Sans Bold"/>
                <a:cs typeface="Canva Sans Bold"/>
                <a:sym typeface="Canva Sans Bold"/>
              </a:rPr>
              <a:t>Automation Testing Project </a:t>
            </a:r>
          </a:p>
          <a:p>
            <a:pPr algn="ctr">
              <a:lnSpc>
                <a:spcPts val="3932"/>
              </a:lnSpc>
              <a:spcBef>
                <a:spcPct val="0"/>
              </a:spcBef>
            </a:pPr>
            <a:endParaRPr lang="en-US" sz="3932" b="1" dirty="0">
              <a:solidFill>
                <a:srgbClr val="000000"/>
              </a:solidFill>
              <a:latin typeface="Canva Sans Bold"/>
              <a:ea typeface="Canva Sans Bold"/>
              <a:cs typeface="Canva Sans Bold"/>
              <a:sym typeface="Canva Sans Bold"/>
            </a:endParaRPr>
          </a:p>
          <a:p>
            <a:pPr algn="ctr">
              <a:lnSpc>
                <a:spcPts val="3932"/>
              </a:lnSpc>
              <a:spcBef>
                <a:spcPct val="0"/>
              </a:spcBef>
            </a:pPr>
            <a:r>
              <a:rPr lang="en-US" sz="3932" b="1" dirty="0">
                <a:solidFill>
                  <a:srgbClr val="000000"/>
                </a:solidFill>
                <a:latin typeface="Canva Sans Bold"/>
                <a:ea typeface="Canva Sans Bold"/>
                <a:cs typeface="Canva Sans Bold"/>
                <a:sym typeface="Canva Sans Bold"/>
              </a:rPr>
              <a:t>Make My Trip Booking</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5400000">
            <a:off x="4374295" y="2104078"/>
            <a:ext cx="7483383" cy="3275227"/>
          </a:xfrm>
          <a:custGeom>
            <a:avLst/>
            <a:gdLst/>
            <a:ahLst/>
            <a:cxnLst/>
            <a:rect l="l" t="t" r="r" b="b"/>
            <a:pathLst>
              <a:path w="7483383" h="3275227">
                <a:moveTo>
                  <a:pt x="0" y="0"/>
                </a:moveTo>
                <a:lnTo>
                  <a:pt x="7483383" y="0"/>
                </a:lnTo>
                <a:lnTo>
                  <a:pt x="7483383" y="3275227"/>
                </a:lnTo>
                <a:lnTo>
                  <a:pt x="0" y="3275227"/>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3" name="Freeform 3"/>
          <p:cNvSpPr/>
          <p:nvPr/>
        </p:nvSpPr>
        <p:spPr>
          <a:xfrm>
            <a:off x="250794" y="169534"/>
            <a:ext cx="1068911" cy="1068911"/>
          </a:xfrm>
          <a:custGeom>
            <a:avLst/>
            <a:gdLst/>
            <a:ahLst/>
            <a:cxnLst/>
            <a:rect l="l" t="t" r="r" b="b"/>
            <a:pathLst>
              <a:path w="1068911" h="1068911">
                <a:moveTo>
                  <a:pt x="0" y="0"/>
                </a:moveTo>
                <a:lnTo>
                  <a:pt x="1068911" y="0"/>
                </a:lnTo>
                <a:lnTo>
                  <a:pt x="1068911" y="1068911"/>
                </a:lnTo>
                <a:lnTo>
                  <a:pt x="0" y="1068911"/>
                </a:lnTo>
                <a:lnTo>
                  <a:pt x="0" y="0"/>
                </a:lnTo>
                <a:close/>
              </a:path>
            </a:pathLst>
          </a:custGeom>
          <a:blipFill>
            <a:blip r:embed="rId3"/>
            <a:stretch>
              <a:fillRect/>
            </a:stretch>
          </a:blipFill>
        </p:spPr>
      </p:sp>
      <p:graphicFrame>
        <p:nvGraphicFramePr>
          <p:cNvPr id="4" name="Object 4"/>
          <p:cNvGraphicFramePr/>
          <p:nvPr>
            <p:extLst>
              <p:ext uri="{D42A27DB-BD31-4B8C-83A1-F6EECF244321}">
                <p14:modId xmlns:p14="http://schemas.microsoft.com/office/powerpoint/2010/main" val="3400448546"/>
              </p:ext>
            </p:extLst>
          </p:nvPr>
        </p:nvGraphicFramePr>
        <p:xfrm>
          <a:off x="881063" y="1676400"/>
          <a:ext cx="5341937" cy="4648200"/>
        </p:xfrm>
        <a:graphic>
          <a:graphicData uri="http://schemas.openxmlformats.org/presentationml/2006/ole">
            <mc:AlternateContent xmlns:mc="http://schemas.openxmlformats.org/markup-compatibility/2006">
              <mc:Choice xmlns:v="urn:schemas-microsoft-com:vml" Requires="v">
                <p:oleObj name="Worksheet" r:id="rId4" imgW="5425558" imgH="5318795" progId="Excel.Sheet.12">
                  <p:embed/>
                </p:oleObj>
              </mc:Choice>
              <mc:Fallback>
                <p:oleObj name="Worksheet" r:id="rId4" imgW="5425558" imgH="5318795" progId="Excel.Sheet.12">
                  <p:embed/>
                  <p:pic>
                    <p:nvPicPr>
                      <p:cNvPr id="0" name=""/>
                      <p:cNvPicPr/>
                      <p:nvPr/>
                    </p:nvPicPr>
                    <p:blipFill>
                      <a:blip r:embed="rId5"/>
                      <a:stretch>
                        <a:fillRect/>
                      </a:stretch>
                    </p:blipFill>
                    <p:spPr>
                      <a:xfrm>
                        <a:off x="881063" y="1676400"/>
                        <a:ext cx="5341937" cy="4648200"/>
                      </a:xfrm>
                      <a:prstGeom prst="rect">
                        <a:avLst/>
                      </a:prstGeom>
                    </p:spPr>
                  </p:pic>
                </p:oleObj>
              </mc:Fallback>
            </mc:AlternateContent>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5400000">
            <a:off x="4374295" y="2104078"/>
            <a:ext cx="7483383" cy="3275227"/>
          </a:xfrm>
          <a:custGeom>
            <a:avLst/>
            <a:gdLst/>
            <a:ahLst/>
            <a:cxnLst/>
            <a:rect l="l" t="t" r="r" b="b"/>
            <a:pathLst>
              <a:path w="7483383" h="3275227">
                <a:moveTo>
                  <a:pt x="0" y="0"/>
                </a:moveTo>
                <a:lnTo>
                  <a:pt x="7483383" y="0"/>
                </a:lnTo>
                <a:lnTo>
                  <a:pt x="7483383" y="3275227"/>
                </a:lnTo>
                <a:lnTo>
                  <a:pt x="0" y="3275227"/>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3" name="Freeform 3"/>
          <p:cNvSpPr/>
          <p:nvPr/>
        </p:nvSpPr>
        <p:spPr>
          <a:xfrm>
            <a:off x="250794" y="169534"/>
            <a:ext cx="1068911" cy="1068911"/>
          </a:xfrm>
          <a:custGeom>
            <a:avLst/>
            <a:gdLst/>
            <a:ahLst/>
            <a:cxnLst/>
            <a:rect l="l" t="t" r="r" b="b"/>
            <a:pathLst>
              <a:path w="1068911" h="1068911">
                <a:moveTo>
                  <a:pt x="0" y="0"/>
                </a:moveTo>
                <a:lnTo>
                  <a:pt x="1068911" y="0"/>
                </a:lnTo>
                <a:lnTo>
                  <a:pt x="1068911" y="1068911"/>
                </a:lnTo>
                <a:lnTo>
                  <a:pt x="0" y="1068911"/>
                </a:lnTo>
                <a:lnTo>
                  <a:pt x="0" y="0"/>
                </a:lnTo>
                <a:close/>
              </a:path>
            </a:pathLst>
          </a:custGeom>
          <a:blipFill>
            <a:blip r:embed="rId3"/>
            <a:stretch>
              <a:fillRect/>
            </a:stretch>
          </a:blipFill>
        </p:spPr>
      </p:sp>
      <p:sp>
        <p:nvSpPr>
          <p:cNvPr id="4" name="TextBox 4"/>
          <p:cNvSpPr txBox="1"/>
          <p:nvPr/>
        </p:nvSpPr>
        <p:spPr>
          <a:xfrm>
            <a:off x="1828800" y="262531"/>
            <a:ext cx="5074087" cy="448310"/>
          </a:xfrm>
          <a:prstGeom prst="rect">
            <a:avLst/>
          </a:prstGeom>
        </p:spPr>
        <p:txBody>
          <a:bodyPr lIns="0" tIns="0" rIns="0" bIns="0" rtlCol="0" anchor="t">
            <a:spAutoFit/>
          </a:bodyPr>
          <a:lstStyle/>
          <a:p>
            <a:pPr algn="ctr">
              <a:lnSpc>
                <a:spcPts val="3639"/>
              </a:lnSpc>
              <a:spcBef>
                <a:spcPct val="0"/>
              </a:spcBef>
            </a:pPr>
            <a:r>
              <a:rPr lang="en-US" sz="2599" b="1" dirty="0">
                <a:solidFill>
                  <a:srgbClr val="000000"/>
                </a:solidFill>
                <a:latin typeface="Canva Sans Bold"/>
                <a:ea typeface="Canva Sans Bold"/>
                <a:cs typeface="Canva Sans Bold"/>
                <a:sym typeface="Canva Sans Bold"/>
              </a:rPr>
              <a:t>Module Name: Travel Insurance</a:t>
            </a:r>
          </a:p>
        </p:txBody>
      </p:sp>
      <p:sp>
        <p:nvSpPr>
          <p:cNvPr id="5" name="TextBox 5"/>
          <p:cNvSpPr txBox="1"/>
          <p:nvPr/>
        </p:nvSpPr>
        <p:spPr>
          <a:xfrm>
            <a:off x="416404" y="1219395"/>
            <a:ext cx="6866977" cy="1480380"/>
          </a:xfrm>
          <a:prstGeom prst="rect">
            <a:avLst/>
          </a:prstGeom>
        </p:spPr>
        <p:txBody>
          <a:bodyPr lIns="0" tIns="0" rIns="0" bIns="0" rtlCol="0" anchor="t">
            <a:spAutoFit/>
          </a:bodyPr>
          <a:lstStyle/>
          <a:p>
            <a:pPr algn="just">
              <a:lnSpc>
                <a:spcPts val="1987"/>
              </a:lnSpc>
            </a:pPr>
            <a:r>
              <a:rPr lang="en-US" sz="1494" b="1" spc="85">
                <a:solidFill>
                  <a:srgbClr val="000000"/>
                </a:solidFill>
                <a:latin typeface="Canva Sans Bold"/>
                <a:ea typeface="Canva Sans Bold"/>
                <a:cs typeface="Canva Sans Bold"/>
                <a:sym typeface="Canva Sans Bold"/>
              </a:rPr>
              <a:t>Objective-</a:t>
            </a:r>
            <a:r>
              <a:rPr lang="en-US" sz="1494" spc="85">
                <a:solidFill>
                  <a:srgbClr val="000000"/>
                </a:solidFill>
                <a:latin typeface="Canva Sans"/>
                <a:ea typeface="Canva Sans"/>
                <a:cs typeface="Canva Sans"/>
                <a:sym typeface="Canva Sans"/>
              </a:rPr>
              <a:t>This capstone project aims to build a scalable BDD automation framework using Selenium and Cucumber to validate end-to-end travel booking workflows. Key objectives include writing human-readable Gherkin feature files, implementing a reusable Page Object Model, handling complex dynamic elements, and generating detailed execution reports with failure screenshots.</a:t>
            </a:r>
          </a:p>
        </p:txBody>
      </p:sp>
      <p:sp>
        <p:nvSpPr>
          <p:cNvPr id="6" name="Freeform 6"/>
          <p:cNvSpPr/>
          <p:nvPr/>
        </p:nvSpPr>
        <p:spPr>
          <a:xfrm rot="-5400000">
            <a:off x="4374295" y="2126595"/>
            <a:ext cx="7483383" cy="3275227"/>
          </a:xfrm>
          <a:custGeom>
            <a:avLst/>
            <a:gdLst/>
            <a:ahLst/>
            <a:cxnLst/>
            <a:rect l="l" t="t" r="r" b="b"/>
            <a:pathLst>
              <a:path w="7483383" h="3275227">
                <a:moveTo>
                  <a:pt x="0" y="0"/>
                </a:moveTo>
                <a:lnTo>
                  <a:pt x="7483383" y="0"/>
                </a:lnTo>
                <a:lnTo>
                  <a:pt x="7483383" y="3275228"/>
                </a:lnTo>
                <a:lnTo>
                  <a:pt x="0" y="3275228"/>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7" name="AutoShape 7"/>
          <p:cNvSpPr/>
          <p:nvPr/>
        </p:nvSpPr>
        <p:spPr>
          <a:xfrm>
            <a:off x="3993684" y="3292482"/>
            <a:ext cx="19050" cy="4010614"/>
          </a:xfrm>
          <a:prstGeom prst="line">
            <a:avLst/>
          </a:prstGeom>
          <a:ln w="38100" cap="flat">
            <a:solidFill>
              <a:srgbClr val="000000"/>
            </a:solidFill>
            <a:prstDash val="solid"/>
            <a:headEnd type="none" w="sm" len="sm"/>
            <a:tailEnd type="none" w="sm" len="sm"/>
          </a:ln>
        </p:spPr>
      </p:sp>
      <p:sp>
        <p:nvSpPr>
          <p:cNvPr id="8" name="TextBox 8"/>
          <p:cNvSpPr txBox="1"/>
          <p:nvPr/>
        </p:nvSpPr>
        <p:spPr>
          <a:xfrm>
            <a:off x="4229620" y="3479082"/>
            <a:ext cx="3886366" cy="1645285"/>
          </a:xfrm>
          <a:prstGeom prst="rect">
            <a:avLst/>
          </a:prstGeom>
        </p:spPr>
        <p:txBody>
          <a:bodyPr lIns="0" tIns="0" rIns="0" bIns="0" rtlCol="0" anchor="t">
            <a:spAutoFit/>
          </a:bodyPr>
          <a:lstStyle/>
          <a:p>
            <a:pPr marL="345439" lvl="1" indent="-172720" algn="l">
              <a:lnSpc>
                <a:spcPts val="2239"/>
              </a:lnSpc>
              <a:buFont typeface="Arial"/>
              <a:buChar char="•"/>
            </a:pPr>
            <a:r>
              <a:rPr lang="en-US" sz="1599" dirty="0">
                <a:solidFill>
                  <a:srgbClr val="000000"/>
                </a:solidFill>
                <a:latin typeface="Canva Sans"/>
                <a:ea typeface="Canva Sans"/>
                <a:cs typeface="Canva Sans"/>
                <a:sym typeface="Canva Sans"/>
              </a:rPr>
              <a:t>Check for International Travel + Medical Insurance &amp; Assistance</a:t>
            </a:r>
          </a:p>
          <a:p>
            <a:pPr marL="345439" lvl="1" indent="-172720" algn="l">
              <a:lnSpc>
                <a:spcPts val="2239"/>
              </a:lnSpc>
              <a:buFont typeface="Arial"/>
              <a:buChar char="•"/>
            </a:pPr>
            <a:r>
              <a:rPr lang="en-US" sz="1599" dirty="0">
                <a:solidFill>
                  <a:srgbClr val="000000"/>
                </a:solidFill>
                <a:latin typeface="Canva Sans"/>
                <a:ea typeface="Canva Sans"/>
                <a:cs typeface="Canva Sans"/>
                <a:sym typeface="Canva Sans"/>
              </a:rPr>
              <a:t>Check for Choose plan for your Trip</a:t>
            </a:r>
          </a:p>
          <a:p>
            <a:pPr marL="345439" lvl="1" indent="-172720" algn="l">
              <a:lnSpc>
                <a:spcPts val="2239"/>
              </a:lnSpc>
              <a:buFont typeface="Arial"/>
              <a:buChar char="•"/>
            </a:pPr>
            <a:r>
              <a:rPr lang="en-US" sz="1599" dirty="0">
                <a:solidFill>
                  <a:srgbClr val="000000"/>
                </a:solidFill>
                <a:latin typeface="Canva Sans"/>
                <a:ea typeface="Canva Sans"/>
                <a:cs typeface="Canva Sans"/>
                <a:sym typeface="Canva Sans"/>
              </a:rPr>
              <a:t>Check </a:t>
            </a:r>
            <a:r>
              <a:rPr lang="en-US" sz="1599" dirty="0" err="1">
                <a:solidFill>
                  <a:srgbClr val="000000"/>
                </a:solidFill>
                <a:latin typeface="Canva Sans"/>
                <a:ea typeface="Canva Sans"/>
                <a:cs typeface="Canva Sans"/>
                <a:sym typeface="Canva Sans"/>
              </a:rPr>
              <a:t>Traveller</a:t>
            </a:r>
            <a:r>
              <a:rPr lang="en-US" sz="1599" dirty="0">
                <a:solidFill>
                  <a:srgbClr val="000000"/>
                </a:solidFill>
                <a:latin typeface="Canva Sans"/>
                <a:ea typeface="Canva Sans"/>
                <a:cs typeface="Canva Sans"/>
                <a:sym typeface="Canva Sans"/>
              </a:rPr>
              <a:t> Details</a:t>
            </a:r>
          </a:p>
          <a:p>
            <a:pPr marL="345439" lvl="1" indent="-172720" algn="l">
              <a:lnSpc>
                <a:spcPts val="2239"/>
              </a:lnSpc>
              <a:buFont typeface="Arial"/>
              <a:buChar char="•"/>
            </a:pPr>
            <a:r>
              <a:rPr lang="en-US" sz="1599" dirty="0">
                <a:solidFill>
                  <a:srgbClr val="000000"/>
                </a:solidFill>
                <a:latin typeface="Canva Sans"/>
                <a:ea typeface="Canva Sans"/>
                <a:cs typeface="Canva Sans"/>
                <a:sym typeface="Canva Sans"/>
              </a:rPr>
              <a:t>Check for Form filled</a:t>
            </a:r>
          </a:p>
          <a:p>
            <a:pPr algn="l">
              <a:lnSpc>
                <a:spcPts val="2239"/>
              </a:lnSpc>
            </a:pPr>
            <a:endParaRPr lang="en-US" sz="1599" dirty="0">
              <a:solidFill>
                <a:srgbClr val="000000"/>
              </a:solidFill>
              <a:latin typeface="Canva Sans"/>
              <a:ea typeface="Canva Sans"/>
              <a:cs typeface="Canva Sans"/>
              <a:sym typeface="Canva Sans"/>
            </a:endParaRPr>
          </a:p>
        </p:txBody>
      </p:sp>
      <p:sp>
        <p:nvSpPr>
          <p:cNvPr id="9" name="TextBox 9"/>
          <p:cNvSpPr txBox="1"/>
          <p:nvPr/>
        </p:nvSpPr>
        <p:spPr>
          <a:xfrm>
            <a:off x="4205315" y="3009077"/>
            <a:ext cx="3271381" cy="372745"/>
          </a:xfrm>
          <a:prstGeom prst="rect">
            <a:avLst/>
          </a:prstGeom>
        </p:spPr>
        <p:txBody>
          <a:bodyPr wrap="square" lIns="0" tIns="0" rIns="0" bIns="0" rtlCol="0" anchor="t">
            <a:spAutoFit/>
          </a:bodyPr>
          <a:lstStyle/>
          <a:p>
            <a:pPr algn="ctr">
              <a:lnSpc>
                <a:spcPts val="3079"/>
              </a:lnSpc>
              <a:spcBef>
                <a:spcPct val="0"/>
              </a:spcBef>
            </a:pPr>
            <a:r>
              <a:rPr lang="en-US" sz="2199" b="1" dirty="0">
                <a:solidFill>
                  <a:srgbClr val="000000"/>
                </a:solidFill>
                <a:latin typeface="Canva Sans Bold"/>
                <a:ea typeface="Canva Sans Bold"/>
                <a:cs typeface="Canva Sans Bold"/>
                <a:sym typeface="Canva Sans Bold"/>
              </a:rPr>
              <a:t>Positive Test Scenarios</a:t>
            </a:r>
          </a:p>
        </p:txBody>
      </p:sp>
      <p:sp>
        <p:nvSpPr>
          <p:cNvPr id="10" name="TextBox 10"/>
          <p:cNvSpPr txBox="1"/>
          <p:nvPr/>
        </p:nvSpPr>
        <p:spPr>
          <a:xfrm>
            <a:off x="4229620" y="5042659"/>
            <a:ext cx="3360642" cy="372745"/>
          </a:xfrm>
          <a:prstGeom prst="rect">
            <a:avLst/>
          </a:prstGeom>
        </p:spPr>
        <p:txBody>
          <a:bodyPr wrap="square" lIns="0" tIns="0" rIns="0" bIns="0" rtlCol="0" anchor="t">
            <a:spAutoFit/>
          </a:bodyPr>
          <a:lstStyle/>
          <a:p>
            <a:pPr algn="ctr">
              <a:lnSpc>
                <a:spcPts val="3079"/>
              </a:lnSpc>
              <a:spcBef>
                <a:spcPct val="0"/>
              </a:spcBef>
            </a:pPr>
            <a:r>
              <a:rPr lang="en-US" sz="2199" b="1" dirty="0">
                <a:solidFill>
                  <a:srgbClr val="000000"/>
                </a:solidFill>
                <a:latin typeface="Canva Sans Bold"/>
                <a:ea typeface="Canva Sans Bold"/>
                <a:cs typeface="Canva Sans Bold"/>
                <a:sym typeface="Canva Sans Bold"/>
              </a:rPr>
              <a:t>Negative Test Scenarios</a:t>
            </a:r>
          </a:p>
        </p:txBody>
      </p:sp>
      <p:sp>
        <p:nvSpPr>
          <p:cNvPr id="11" name="TextBox 11"/>
          <p:cNvSpPr txBox="1"/>
          <p:nvPr/>
        </p:nvSpPr>
        <p:spPr>
          <a:xfrm>
            <a:off x="4219906" y="5545739"/>
            <a:ext cx="3477998" cy="1645285"/>
          </a:xfrm>
          <a:prstGeom prst="rect">
            <a:avLst/>
          </a:prstGeom>
        </p:spPr>
        <p:txBody>
          <a:bodyPr lIns="0" tIns="0" rIns="0" bIns="0" rtlCol="0" anchor="t">
            <a:spAutoFit/>
          </a:bodyPr>
          <a:lstStyle/>
          <a:p>
            <a:pPr marL="345439" lvl="1" indent="-172720" algn="l">
              <a:lnSpc>
                <a:spcPts val="2239"/>
              </a:lnSpc>
              <a:buFont typeface="Arial"/>
              <a:buChar char="•"/>
            </a:pPr>
            <a:r>
              <a:rPr lang="en-US" sz="1599" dirty="0">
                <a:solidFill>
                  <a:srgbClr val="000000"/>
                </a:solidFill>
                <a:latin typeface="Canva Sans"/>
                <a:ea typeface="Canva Sans"/>
                <a:cs typeface="Canva Sans"/>
                <a:sym typeface="Canva Sans"/>
              </a:rPr>
              <a:t>Check error for blank DOB</a:t>
            </a:r>
          </a:p>
          <a:p>
            <a:pPr marL="345439" lvl="1" indent="-172720" algn="l">
              <a:lnSpc>
                <a:spcPts val="2239"/>
              </a:lnSpc>
              <a:buFont typeface="Arial"/>
              <a:buChar char="•"/>
            </a:pPr>
            <a:r>
              <a:rPr lang="en-US" sz="1599" dirty="0">
                <a:solidFill>
                  <a:srgbClr val="000000"/>
                </a:solidFill>
                <a:latin typeface="Canva Sans"/>
                <a:ea typeface="Canva Sans"/>
                <a:cs typeface="Canva Sans"/>
                <a:sym typeface="Canva Sans"/>
              </a:rPr>
              <a:t>Check error for blank mobile number</a:t>
            </a:r>
          </a:p>
          <a:p>
            <a:pPr marL="345439" lvl="1" indent="-172720" algn="l">
              <a:lnSpc>
                <a:spcPts val="2239"/>
              </a:lnSpc>
              <a:buFont typeface="Arial"/>
              <a:buChar char="•"/>
            </a:pPr>
            <a:r>
              <a:rPr lang="en-US" sz="1599" dirty="0">
                <a:solidFill>
                  <a:srgbClr val="000000"/>
                </a:solidFill>
                <a:latin typeface="Canva Sans"/>
                <a:ea typeface="Canva Sans"/>
                <a:cs typeface="Canva Sans"/>
                <a:sym typeface="Canva Sans"/>
              </a:rPr>
              <a:t>Check error for wrong mobile number </a:t>
            </a:r>
          </a:p>
          <a:p>
            <a:pPr algn="l">
              <a:lnSpc>
                <a:spcPts val="2239"/>
              </a:lnSpc>
            </a:pPr>
            <a:endParaRPr lang="en-US" sz="1599" dirty="0">
              <a:solidFill>
                <a:srgbClr val="000000"/>
              </a:solidFill>
              <a:latin typeface="Canva Sans"/>
              <a:ea typeface="Canva Sans"/>
              <a:cs typeface="Canva Sans"/>
              <a:sym typeface="Canva Sans"/>
            </a:endParaRPr>
          </a:p>
        </p:txBody>
      </p:sp>
      <p:sp>
        <p:nvSpPr>
          <p:cNvPr id="12" name="TextBox 12"/>
          <p:cNvSpPr txBox="1"/>
          <p:nvPr/>
        </p:nvSpPr>
        <p:spPr>
          <a:xfrm>
            <a:off x="416404" y="2987286"/>
            <a:ext cx="2718709" cy="372745"/>
          </a:xfrm>
          <a:prstGeom prst="rect">
            <a:avLst/>
          </a:prstGeom>
        </p:spPr>
        <p:txBody>
          <a:bodyPr wrap="square" lIns="0" tIns="0" rIns="0" bIns="0" rtlCol="0" anchor="t">
            <a:spAutoFit/>
          </a:bodyPr>
          <a:lstStyle/>
          <a:p>
            <a:pPr algn="ctr">
              <a:lnSpc>
                <a:spcPts val="3079"/>
              </a:lnSpc>
              <a:spcBef>
                <a:spcPct val="0"/>
              </a:spcBef>
            </a:pPr>
            <a:r>
              <a:rPr lang="en-US" sz="2199" b="1" dirty="0">
                <a:solidFill>
                  <a:srgbClr val="000000"/>
                </a:solidFill>
                <a:latin typeface="Canva Sans Bold"/>
                <a:ea typeface="Canva Sans Bold"/>
                <a:cs typeface="Canva Sans Bold"/>
                <a:sym typeface="Canva Sans Bold"/>
              </a:rPr>
              <a:t>Flow of End to End</a:t>
            </a:r>
          </a:p>
        </p:txBody>
      </p:sp>
      <p:sp>
        <p:nvSpPr>
          <p:cNvPr id="13" name="TextBox 13"/>
          <p:cNvSpPr txBox="1"/>
          <p:nvPr/>
        </p:nvSpPr>
        <p:spPr>
          <a:xfrm>
            <a:off x="344787" y="3394309"/>
            <a:ext cx="3491984" cy="3460115"/>
          </a:xfrm>
          <a:prstGeom prst="rect">
            <a:avLst/>
          </a:prstGeom>
        </p:spPr>
        <p:txBody>
          <a:bodyPr lIns="0" tIns="0" rIns="0" bIns="0" rtlCol="0" anchor="t">
            <a:spAutoFit/>
          </a:bodyPr>
          <a:lstStyle/>
          <a:p>
            <a:pPr marL="302261" lvl="1" indent="-151130" algn="l">
              <a:lnSpc>
                <a:spcPts val="1960"/>
              </a:lnSpc>
              <a:buAutoNum type="arabicPeriod"/>
            </a:pPr>
            <a:r>
              <a:rPr lang="en-US" sz="1400" dirty="0">
                <a:solidFill>
                  <a:srgbClr val="000000"/>
                </a:solidFill>
                <a:latin typeface="Canva Sans"/>
                <a:ea typeface="Canva Sans"/>
                <a:cs typeface="Canva Sans"/>
                <a:sym typeface="Canva Sans"/>
              </a:rPr>
              <a:t>Open the MakeMyTrip website.</a:t>
            </a:r>
          </a:p>
          <a:p>
            <a:pPr marL="302261" lvl="1" indent="-151130" algn="l">
              <a:lnSpc>
                <a:spcPts val="1960"/>
              </a:lnSpc>
              <a:buAutoNum type="arabicPeriod"/>
            </a:pPr>
            <a:r>
              <a:rPr lang="en-US" sz="1400" dirty="0">
                <a:solidFill>
                  <a:srgbClr val="000000"/>
                </a:solidFill>
                <a:latin typeface="Canva Sans"/>
                <a:ea typeface="Canva Sans"/>
                <a:cs typeface="Canva Sans"/>
                <a:sym typeface="Canva Sans"/>
              </a:rPr>
              <a:t>Close the initial login popup.</a:t>
            </a:r>
          </a:p>
          <a:p>
            <a:pPr marL="302261" lvl="1" indent="-151130" algn="l">
              <a:lnSpc>
                <a:spcPts val="1960"/>
              </a:lnSpc>
              <a:buAutoNum type="arabicPeriod"/>
            </a:pPr>
            <a:r>
              <a:rPr lang="en-US" sz="1400" dirty="0">
                <a:solidFill>
                  <a:srgbClr val="000000"/>
                </a:solidFill>
                <a:latin typeface="Canva Sans"/>
                <a:ea typeface="Canva Sans"/>
                <a:cs typeface="Canva Sans"/>
                <a:sym typeface="Canva Sans"/>
              </a:rPr>
              <a:t>Open the travel insurance page.</a:t>
            </a:r>
          </a:p>
          <a:p>
            <a:pPr marL="302261" lvl="1" indent="-151130" algn="l">
              <a:lnSpc>
                <a:spcPts val="1960"/>
              </a:lnSpc>
              <a:buAutoNum type="arabicPeriod"/>
            </a:pPr>
            <a:r>
              <a:rPr lang="en-US" sz="1400" dirty="0">
                <a:solidFill>
                  <a:srgbClr val="000000"/>
                </a:solidFill>
                <a:latin typeface="Canva Sans"/>
                <a:ea typeface="Canva Sans"/>
                <a:cs typeface="Canva Sans"/>
                <a:sym typeface="Canva Sans"/>
              </a:rPr>
              <a:t>Input data for destination and number of travelers, then click on explore.</a:t>
            </a:r>
          </a:p>
          <a:p>
            <a:pPr marL="302261" lvl="1" indent="-151130" algn="l">
              <a:lnSpc>
                <a:spcPts val="1960"/>
              </a:lnSpc>
              <a:buAutoNum type="arabicPeriod"/>
            </a:pPr>
            <a:r>
              <a:rPr lang="en-US" sz="1400" dirty="0">
                <a:solidFill>
                  <a:srgbClr val="000000"/>
                </a:solidFill>
                <a:latin typeface="Canva Sans"/>
                <a:ea typeface="Canva Sans"/>
                <a:cs typeface="Canva Sans"/>
                <a:sym typeface="Canva Sans"/>
              </a:rPr>
              <a:t>Choose a plan.</a:t>
            </a:r>
          </a:p>
          <a:p>
            <a:pPr marL="302261" lvl="1" indent="-151130" algn="l">
              <a:lnSpc>
                <a:spcPts val="1960"/>
              </a:lnSpc>
              <a:buAutoNum type="arabicPeriod"/>
            </a:pPr>
            <a:r>
              <a:rPr lang="en-US" sz="1400" dirty="0">
                <a:solidFill>
                  <a:srgbClr val="000000"/>
                </a:solidFill>
                <a:latin typeface="Canva Sans"/>
                <a:ea typeface="Canva Sans"/>
                <a:cs typeface="Canva Sans"/>
                <a:sym typeface="Canva Sans"/>
              </a:rPr>
              <a:t>Fill details like name, date of birth, email, mobile number, and gender.</a:t>
            </a:r>
          </a:p>
          <a:p>
            <a:pPr marL="302261" lvl="1" indent="-151130" algn="l">
              <a:lnSpc>
                <a:spcPts val="1960"/>
              </a:lnSpc>
              <a:buAutoNum type="arabicPeriod"/>
            </a:pPr>
            <a:r>
              <a:rPr lang="en-US" sz="1400" dirty="0">
                <a:solidFill>
                  <a:srgbClr val="000000"/>
                </a:solidFill>
                <a:latin typeface="Canva Sans"/>
                <a:ea typeface="Canva Sans"/>
                <a:cs typeface="Canva Sans"/>
                <a:sym typeface="Canva Sans"/>
              </a:rPr>
              <a:t>Click on the buy button.</a:t>
            </a:r>
          </a:p>
          <a:p>
            <a:pPr marL="302261" lvl="1" indent="-151130" algn="l">
              <a:lnSpc>
                <a:spcPts val="1960"/>
              </a:lnSpc>
              <a:buAutoNum type="arabicPeriod"/>
            </a:pPr>
            <a:r>
              <a:rPr lang="en-US" sz="1400" dirty="0">
                <a:solidFill>
                  <a:srgbClr val="000000"/>
                </a:solidFill>
                <a:latin typeface="Canva Sans"/>
                <a:ea typeface="Canva Sans"/>
                <a:cs typeface="Canva Sans"/>
                <a:sym typeface="Canva Sans"/>
              </a:rPr>
              <a:t>When the login popup opens, enter your mobile number, click the checkbox, and hit the continue button.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5400000">
            <a:off x="4374295" y="2104078"/>
            <a:ext cx="7483383" cy="3275227"/>
          </a:xfrm>
          <a:custGeom>
            <a:avLst/>
            <a:gdLst/>
            <a:ahLst/>
            <a:cxnLst/>
            <a:rect l="l" t="t" r="r" b="b"/>
            <a:pathLst>
              <a:path w="7483383" h="3275227">
                <a:moveTo>
                  <a:pt x="0" y="0"/>
                </a:moveTo>
                <a:lnTo>
                  <a:pt x="7483383" y="0"/>
                </a:lnTo>
                <a:lnTo>
                  <a:pt x="7483383" y="3275227"/>
                </a:lnTo>
                <a:lnTo>
                  <a:pt x="0" y="3275227"/>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3" name="Freeform 3"/>
          <p:cNvSpPr/>
          <p:nvPr/>
        </p:nvSpPr>
        <p:spPr>
          <a:xfrm>
            <a:off x="250794" y="169534"/>
            <a:ext cx="1068911" cy="1068911"/>
          </a:xfrm>
          <a:custGeom>
            <a:avLst/>
            <a:gdLst/>
            <a:ahLst/>
            <a:cxnLst/>
            <a:rect l="l" t="t" r="r" b="b"/>
            <a:pathLst>
              <a:path w="1068911" h="1068911">
                <a:moveTo>
                  <a:pt x="0" y="0"/>
                </a:moveTo>
                <a:lnTo>
                  <a:pt x="1068911" y="0"/>
                </a:lnTo>
                <a:lnTo>
                  <a:pt x="1068911" y="1068911"/>
                </a:lnTo>
                <a:lnTo>
                  <a:pt x="0" y="1068911"/>
                </a:lnTo>
                <a:lnTo>
                  <a:pt x="0" y="0"/>
                </a:lnTo>
                <a:close/>
              </a:path>
            </a:pathLst>
          </a:custGeom>
          <a:blipFill>
            <a:blip r:embed="rId3"/>
            <a:stretch>
              <a:fillRect/>
            </a:stretch>
          </a:blipFill>
        </p:spPr>
      </p:sp>
      <p:sp>
        <p:nvSpPr>
          <p:cNvPr id="4" name="TextBox 4"/>
          <p:cNvSpPr txBox="1"/>
          <p:nvPr/>
        </p:nvSpPr>
        <p:spPr>
          <a:xfrm>
            <a:off x="2388972" y="451260"/>
            <a:ext cx="3630827" cy="448310"/>
          </a:xfrm>
          <a:prstGeom prst="rect">
            <a:avLst/>
          </a:prstGeom>
        </p:spPr>
        <p:txBody>
          <a:bodyPr wrap="square" lIns="0" tIns="0" rIns="0" bIns="0" rtlCol="0" anchor="t">
            <a:spAutoFit/>
          </a:bodyPr>
          <a:lstStyle/>
          <a:p>
            <a:pPr algn="ctr">
              <a:lnSpc>
                <a:spcPts val="3639"/>
              </a:lnSpc>
              <a:spcBef>
                <a:spcPct val="0"/>
              </a:spcBef>
            </a:pPr>
            <a:r>
              <a:rPr lang="en-US" sz="2599" b="1" dirty="0">
                <a:solidFill>
                  <a:srgbClr val="000000"/>
                </a:solidFill>
                <a:latin typeface="Canva Sans Bold"/>
                <a:ea typeface="Canva Sans Bold"/>
                <a:cs typeface="Canva Sans Bold"/>
                <a:sym typeface="Canva Sans Bold"/>
              </a:rPr>
              <a:t>Module Name: Buses</a:t>
            </a:r>
          </a:p>
        </p:txBody>
      </p:sp>
      <p:sp>
        <p:nvSpPr>
          <p:cNvPr id="5" name="TextBox 5"/>
          <p:cNvSpPr txBox="1"/>
          <p:nvPr/>
        </p:nvSpPr>
        <p:spPr>
          <a:xfrm>
            <a:off x="226556" y="1559298"/>
            <a:ext cx="7032446" cy="1231265"/>
          </a:xfrm>
          <a:prstGeom prst="rect">
            <a:avLst/>
          </a:prstGeom>
        </p:spPr>
        <p:txBody>
          <a:bodyPr lIns="0" tIns="0" rIns="0" bIns="0" rtlCol="0" anchor="t">
            <a:spAutoFit/>
          </a:bodyPr>
          <a:lstStyle/>
          <a:p>
            <a:pPr algn="just">
              <a:lnSpc>
                <a:spcPts val="1959"/>
              </a:lnSpc>
              <a:spcBef>
                <a:spcPct val="0"/>
              </a:spcBef>
            </a:pPr>
            <a:r>
              <a:rPr lang="en-US" sz="1399" b="1">
                <a:solidFill>
                  <a:srgbClr val="000000"/>
                </a:solidFill>
                <a:latin typeface="Canva Sans Bold"/>
                <a:ea typeface="Canva Sans Bold"/>
                <a:cs typeface="Canva Sans Bold"/>
                <a:sym typeface="Canva Sans Bold"/>
              </a:rPr>
              <a:t>Objective</a:t>
            </a:r>
            <a:r>
              <a:rPr lang="en-US" sz="1399">
                <a:solidFill>
                  <a:srgbClr val="000000"/>
                </a:solidFill>
                <a:latin typeface="Canva Sans"/>
                <a:ea typeface="Canva Sans"/>
                <a:cs typeface="Canva Sans"/>
                <a:sym typeface="Canva Sans"/>
              </a:rPr>
              <a:t>: Develop an automation testing framework for the MakeMyTrip Buses module using Selenium WebDriver with Pytest and BDD Behave frameworks to validate bus search, route verification, filter handling, seat selection, booking validation, and payment navigation with Data-Driven Testing, Allure Reporting, logging, and screenshot capturing.</a:t>
            </a:r>
          </a:p>
        </p:txBody>
      </p:sp>
      <p:sp>
        <p:nvSpPr>
          <p:cNvPr id="6" name="AutoShape 6"/>
          <p:cNvSpPr/>
          <p:nvPr/>
        </p:nvSpPr>
        <p:spPr>
          <a:xfrm>
            <a:off x="3841284" y="3140082"/>
            <a:ext cx="19050" cy="4010614"/>
          </a:xfrm>
          <a:prstGeom prst="line">
            <a:avLst/>
          </a:prstGeom>
          <a:ln w="38100" cap="flat">
            <a:solidFill>
              <a:srgbClr val="000000"/>
            </a:solidFill>
            <a:prstDash val="solid"/>
            <a:headEnd type="none" w="sm" len="sm"/>
            <a:tailEnd type="none" w="sm" len="sm"/>
          </a:ln>
        </p:spPr>
      </p:sp>
      <p:sp>
        <p:nvSpPr>
          <p:cNvPr id="7" name="TextBox 7"/>
          <p:cNvSpPr txBox="1"/>
          <p:nvPr/>
        </p:nvSpPr>
        <p:spPr>
          <a:xfrm>
            <a:off x="4316476" y="3768800"/>
            <a:ext cx="2897981" cy="1231265"/>
          </a:xfrm>
          <a:prstGeom prst="rect">
            <a:avLst/>
          </a:prstGeom>
        </p:spPr>
        <p:txBody>
          <a:bodyPr lIns="0" tIns="0" rIns="0" bIns="0" rtlCol="0" anchor="t">
            <a:spAutoFit/>
          </a:bodyPr>
          <a:lstStyle/>
          <a:p>
            <a:pPr marL="302261" lvl="1" indent="-151130" algn="l">
              <a:lnSpc>
                <a:spcPts val="1960"/>
              </a:lnSpc>
              <a:buFont typeface="Arial"/>
              <a:buChar char="•"/>
            </a:pPr>
            <a:r>
              <a:rPr lang="en-US" sz="1400" dirty="0">
                <a:solidFill>
                  <a:srgbClr val="000000"/>
                </a:solidFill>
                <a:latin typeface="Canva Sans"/>
                <a:ea typeface="Canva Sans"/>
                <a:cs typeface="Canva Sans"/>
                <a:sym typeface="Canva Sans"/>
              </a:rPr>
              <a:t>Route Validation</a:t>
            </a:r>
          </a:p>
          <a:p>
            <a:pPr marL="302261" lvl="1" indent="-151130" algn="l">
              <a:lnSpc>
                <a:spcPts val="1960"/>
              </a:lnSpc>
              <a:buFont typeface="Arial"/>
              <a:buChar char="•"/>
            </a:pPr>
            <a:r>
              <a:rPr lang="en-US" sz="1400" dirty="0">
                <a:solidFill>
                  <a:srgbClr val="000000"/>
                </a:solidFill>
                <a:latin typeface="Canva Sans"/>
                <a:ea typeface="Canva Sans"/>
                <a:cs typeface="Canva Sans"/>
                <a:sym typeface="Canva Sans"/>
              </a:rPr>
              <a:t>Sleeper Filter Validation</a:t>
            </a:r>
          </a:p>
          <a:p>
            <a:pPr marL="302261" lvl="1" indent="-151130" algn="l">
              <a:lnSpc>
                <a:spcPts val="1960"/>
              </a:lnSpc>
              <a:buFont typeface="Arial"/>
              <a:buChar char="•"/>
            </a:pPr>
            <a:r>
              <a:rPr lang="en-US" sz="1400" dirty="0">
                <a:solidFill>
                  <a:srgbClr val="000000"/>
                </a:solidFill>
                <a:latin typeface="Canva Sans"/>
                <a:ea typeface="Canva Sans"/>
                <a:cs typeface="Canva Sans"/>
                <a:sym typeface="Canva Sans"/>
              </a:rPr>
              <a:t>Seat Selection Verification</a:t>
            </a:r>
          </a:p>
          <a:p>
            <a:pPr marL="302261" lvl="1" indent="-151130" algn="l">
              <a:lnSpc>
                <a:spcPts val="1960"/>
              </a:lnSpc>
              <a:buFont typeface="Arial"/>
              <a:buChar char="•"/>
            </a:pPr>
            <a:r>
              <a:rPr lang="en-US" sz="1400" dirty="0">
                <a:solidFill>
                  <a:srgbClr val="000000"/>
                </a:solidFill>
                <a:latin typeface="Canva Sans"/>
                <a:ea typeface="Canva Sans"/>
                <a:cs typeface="Canva Sans"/>
                <a:sym typeface="Canva Sans"/>
              </a:rPr>
              <a:t>Booking Page Route Validation</a:t>
            </a:r>
          </a:p>
          <a:p>
            <a:pPr algn="l">
              <a:lnSpc>
                <a:spcPts val="1960"/>
              </a:lnSpc>
            </a:pPr>
            <a:endParaRPr lang="en-US" sz="1400" dirty="0">
              <a:solidFill>
                <a:srgbClr val="000000"/>
              </a:solidFill>
              <a:latin typeface="Canva Sans"/>
              <a:ea typeface="Canva Sans"/>
              <a:cs typeface="Canva Sans"/>
              <a:sym typeface="Canva Sans"/>
            </a:endParaRPr>
          </a:p>
        </p:txBody>
      </p:sp>
      <p:sp>
        <p:nvSpPr>
          <p:cNvPr id="8" name="TextBox 8"/>
          <p:cNvSpPr txBox="1"/>
          <p:nvPr/>
        </p:nvSpPr>
        <p:spPr>
          <a:xfrm>
            <a:off x="4077220" y="3096609"/>
            <a:ext cx="3181782" cy="335541"/>
          </a:xfrm>
          <a:prstGeom prst="rect">
            <a:avLst/>
          </a:prstGeom>
        </p:spPr>
        <p:txBody>
          <a:bodyPr wrap="square" lIns="0" tIns="0" rIns="0" bIns="0" rtlCol="0" anchor="t">
            <a:spAutoFit/>
          </a:bodyPr>
          <a:lstStyle/>
          <a:p>
            <a:pPr algn="ctr">
              <a:lnSpc>
                <a:spcPts val="2800"/>
              </a:lnSpc>
              <a:spcBef>
                <a:spcPct val="0"/>
              </a:spcBef>
            </a:pPr>
            <a:r>
              <a:rPr lang="en-US" sz="2000" b="1" dirty="0">
                <a:solidFill>
                  <a:srgbClr val="000000"/>
                </a:solidFill>
                <a:latin typeface="Canva Sans Bold"/>
                <a:ea typeface="Canva Sans Bold"/>
                <a:cs typeface="Canva Sans Bold"/>
                <a:sym typeface="Canva Sans Bold"/>
              </a:rPr>
              <a:t>Positive Test Scenarios</a:t>
            </a:r>
          </a:p>
        </p:txBody>
      </p:sp>
      <p:sp>
        <p:nvSpPr>
          <p:cNvPr id="9" name="TextBox 9"/>
          <p:cNvSpPr txBox="1"/>
          <p:nvPr/>
        </p:nvSpPr>
        <p:spPr>
          <a:xfrm>
            <a:off x="4056374" y="5103915"/>
            <a:ext cx="3158083" cy="335541"/>
          </a:xfrm>
          <a:prstGeom prst="rect">
            <a:avLst/>
          </a:prstGeom>
        </p:spPr>
        <p:txBody>
          <a:bodyPr wrap="square" lIns="0" tIns="0" rIns="0" bIns="0" rtlCol="0" anchor="t">
            <a:spAutoFit/>
          </a:bodyPr>
          <a:lstStyle/>
          <a:p>
            <a:pPr algn="ctr">
              <a:lnSpc>
                <a:spcPts val="2800"/>
              </a:lnSpc>
              <a:spcBef>
                <a:spcPct val="0"/>
              </a:spcBef>
            </a:pPr>
            <a:r>
              <a:rPr lang="en-US" sz="2000" b="1" dirty="0">
                <a:solidFill>
                  <a:srgbClr val="000000"/>
                </a:solidFill>
                <a:latin typeface="Canva Sans Bold"/>
                <a:ea typeface="Canva Sans Bold"/>
                <a:cs typeface="Canva Sans Bold"/>
                <a:sym typeface="Canva Sans Bold"/>
              </a:rPr>
              <a:t>Negative Test Scenarios</a:t>
            </a:r>
          </a:p>
        </p:txBody>
      </p:sp>
      <p:sp>
        <p:nvSpPr>
          <p:cNvPr id="10" name="TextBox 10"/>
          <p:cNvSpPr txBox="1"/>
          <p:nvPr/>
        </p:nvSpPr>
        <p:spPr>
          <a:xfrm>
            <a:off x="4316476" y="5543306"/>
            <a:ext cx="3040701" cy="983615"/>
          </a:xfrm>
          <a:prstGeom prst="rect">
            <a:avLst/>
          </a:prstGeom>
        </p:spPr>
        <p:txBody>
          <a:bodyPr lIns="0" tIns="0" rIns="0" bIns="0" rtlCol="0" anchor="t">
            <a:spAutoFit/>
          </a:bodyPr>
          <a:lstStyle/>
          <a:p>
            <a:pPr marL="302261" lvl="1" indent="-151130" algn="l">
              <a:lnSpc>
                <a:spcPts val="1960"/>
              </a:lnSpc>
              <a:buFont typeface="Arial"/>
              <a:buChar char="•"/>
            </a:pPr>
            <a:r>
              <a:rPr lang="en-US" sz="1400" dirty="0">
                <a:solidFill>
                  <a:srgbClr val="000000"/>
                </a:solidFill>
                <a:latin typeface="Canva Sans"/>
                <a:ea typeface="Canva Sans"/>
                <a:cs typeface="Canva Sans"/>
                <a:sym typeface="Canva Sans"/>
              </a:rPr>
              <a:t>Same Source and Destination Validation</a:t>
            </a:r>
          </a:p>
          <a:p>
            <a:pPr marL="302261" lvl="1" indent="-151130" algn="l">
              <a:lnSpc>
                <a:spcPts val="1960"/>
              </a:lnSpc>
              <a:buFont typeface="Arial"/>
              <a:buChar char="•"/>
            </a:pPr>
            <a:r>
              <a:rPr lang="en-US" sz="1400" dirty="0">
                <a:solidFill>
                  <a:srgbClr val="000000"/>
                </a:solidFill>
                <a:latin typeface="Canva Sans"/>
                <a:ea typeface="Canva Sans"/>
                <a:cs typeface="Canva Sans"/>
                <a:sym typeface="Canva Sans"/>
              </a:rPr>
              <a:t>No Buses Found Validation </a:t>
            </a:r>
          </a:p>
          <a:p>
            <a:pPr algn="l">
              <a:lnSpc>
                <a:spcPts val="1960"/>
              </a:lnSpc>
            </a:pPr>
            <a:endParaRPr lang="en-US" sz="1400" dirty="0">
              <a:solidFill>
                <a:srgbClr val="000000"/>
              </a:solidFill>
              <a:latin typeface="Canva Sans"/>
              <a:ea typeface="Canva Sans"/>
              <a:cs typeface="Canva Sans"/>
              <a:sym typeface="Canva Sans"/>
            </a:endParaRPr>
          </a:p>
        </p:txBody>
      </p:sp>
      <p:sp>
        <p:nvSpPr>
          <p:cNvPr id="11" name="TextBox 11"/>
          <p:cNvSpPr txBox="1"/>
          <p:nvPr/>
        </p:nvSpPr>
        <p:spPr>
          <a:xfrm>
            <a:off x="355446" y="3079764"/>
            <a:ext cx="2521104" cy="335541"/>
          </a:xfrm>
          <a:prstGeom prst="rect">
            <a:avLst/>
          </a:prstGeom>
        </p:spPr>
        <p:txBody>
          <a:bodyPr wrap="square" lIns="0" tIns="0" rIns="0" bIns="0" rtlCol="0" anchor="t">
            <a:spAutoFit/>
          </a:bodyPr>
          <a:lstStyle/>
          <a:p>
            <a:pPr algn="ctr">
              <a:lnSpc>
                <a:spcPts val="2800"/>
              </a:lnSpc>
              <a:spcBef>
                <a:spcPct val="0"/>
              </a:spcBef>
            </a:pPr>
            <a:r>
              <a:rPr lang="en-US" sz="2000" b="1" dirty="0">
                <a:solidFill>
                  <a:srgbClr val="000000"/>
                </a:solidFill>
                <a:latin typeface="Canva Sans Bold"/>
                <a:ea typeface="Canva Sans Bold"/>
                <a:cs typeface="Canva Sans Bold"/>
                <a:sym typeface="Canva Sans Bold"/>
              </a:rPr>
              <a:t>Flow of End to End</a:t>
            </a:r>
          </a:p>
        </p:txBody>
      </p:sp>
      <p:sp>
        <p:nvSpPr>
          <p:cNvPr id="12" name="TextBox 12"/>
          <p:cNvSpPr txBox="1"/>
          <p:nvPr/>
        </p:nvSpPr>
        <p:spPr>
          <a:xfrm>
            <a:off x="250794" y="3314456"/>
            <a:ext cx="3491984" cy="3212465"/>
          </a:xfrm>
          <a:prstGeom prst="rect">
            <a:avLst/>
          </a:prstGeom>
        </p:spPr>
        <p:txBody>
          <a:bodyPr lIns="0" tIns="0" rIns="0" bIns="0" rtlCol="0" anchor="t">
            <a:spAutoFit/>
          </a:bodyPr>
          <a:lstStyle/>
          <a:p>
            <a:pPr algn="just">
              <a:lnSpc>
                <a:spcPts val="1960"/>
              </a:lnSpc>
            </a:pPr>
            <a:endParaRPr dirty="0"/>
          </a:p>
          <a:p>
            <a:pPr marL="302261" lvl="1" indent="-151130" algn="just">
              <a:lnSpc>
                <a:spcPts val="1960"/>
              </a:lnSpc>
              <a:buAutoNum type="arabicPeriod"/>
            </a:pPr>
            <a:r>
              <a:rPr lang="en-US" sz="1400" dirty="0">
                <a:solidFill>
                  <a:srgbClr val="000000"/>
                </a:solidFill>
                <a:latin typeface="Canva Sans"/>
                <a:ea typeface="Canva Sans"/>
                <a:cs typeface="Canva Sans"/>
                <a:sym typeface="Canva Sans"/>
              </a:rPr>
              <a:t>Launch MakeMyTrip application</a:t>
            </a:r>
          </a:p>
          <a:p>
            <a:pPr marL="302261" lvl="1" indent="-151130" algn="just">
              <a:lnSpc>
                <a:spcPts val="1960"/>
              </a:lnSpc>
              <a:buAutoNum type="arabicPeriod"/>
            </a:pPr>
            <a:r>
              <a:rPr lang="en-US" sz="1400" dirty="0">
                <a:solidFill>
                  <a:srgbClr val="000000"/>
                </a:solidFill>
                <a:latin typeface="Canva Sans"/>
                <a:ea typeface="Canva Sans"/>
                <a:cs typeface="Canva Sans"/>
                <a:sym typeface="Canva Sans"/>
              </a:rPr>
              <a:t>Close login popup</a:t>
            </a:r>
          </a:p>
          <a:p>
            <a:pPr marL="302261" lvl="1" indent="-151130" algn="just">
              <a:lnSpc>
                <a:spcPts val="1960"/>
              </a:lnSpc>
              <a:buAutoNum type="arabicPeriod"/>
            </a:pPr>
            <a:r>
              <a:rPr lang="en-US" sz="1400" dirty="0">
                <a:solidFill>
                  <a:srgbClr val="000000"/>
                </a:solidFill>
                <a:latin typeface="Canva Sans"/>
                <a:ea typeface="Canva Sans"/>
                <a:cs typeface="Canva Sans"/>
                <a:sym typeface="Canva Sans"/>
              </a:rPr>
              <a:t>Navigate to Buses module</a:t>
            </a:r>
          </a:p>
          <a:p>
            <a:pPr marL="302261" lvl="1" indent="-151130" algn="just">
              <a:lnSpc>
                <a:spcPts val="1960"/>
              </a:lnSpc>
              <a:buAutoNum type="arabicPeriod"/>
            </a:pPr>
            <a:r>
              <a:rPr lang="en-US" sz="1400" dirty="0">
                <a:solidFill>
                  <a:srgbClr val="000000"/>
                </a:solidFill>
                <a:latin typeface="Canva Sans"/>
                <a:ea typeface="Canva Sans"/>
                <a:cs typeface="Canva Sans"/>
                <a:sym typeface="Canva Sans"/>
              </a:rPr>
              <a:t>Enter source and destination city</a:t>
            </a:r>
          </a:p>
          <a:p>
            <a:pPr marL="302261" lvl="1" indent="-151130" algn="just">
              <a:lnSpc>
                <a:spcPts val="1960"/>
              </a:lnSpc>
              <a:buAutoNum type="arabicPeriod"/>
            </a:pPr>
            <a:r>
              <a:rPr lang="en-US" sz="1400" dirty="0">
                <a:solidFill>
                  <a:srgbClr val="000000"/>
                </a:solidFill>
                <a:latin typeface="Canva Sans"/>
                <a:ea typeface="Canva Sans"/>
                <a:cs typeface="Canva Sans"/>
                <a:sym typeface="Canva Sans"/>
              </a:rPr>
              <a:t>Select journey date and search buses</a:t>
            </a:r>
          </a:p>
          <a:p>
            <a:pPr marL="302261" lvl="1" indent="-151130" algn="just">
              <a:lnSpc>
                <a:spcPts val="1960"/>
              </a:lnSpc>
              <a:buAutoNum type="arabicPeriod"/>
            </a:pPr>
            <a:r>
              <a:rPr lang="en-US" sz="1400" dirty="0">
                <a:solidFill>
                  <a:srgbClr val="000000"/>
                </a:solidFill>
                <a:latin typeface="Canva Sans"/>
                <a:ea typeface="Canva Sans"/>
                <a:cs typeface="Canva Sans"/>
                <a:sym typeface="Canva Sans"/>
              </a:rPr>
              <a:t>Apply AC filter</a:t>
            </a:r>
          </a:p>
          <a:p>
            <a:pPr marL="302261" lvl="1" indent="-151130" algn="just">
              <a:lnSpc>
                <a:spcPts val="1960"/>
              </a:lnSpc>
              <a:buAutoNum type="arabicPeriod"/>
            </a:pPr>
            <a:r>
              <a:rPr lang="en-US" sz="1400" dirty="0">
                <a:solidFill>
                  <a:srgbClr val="000000"/>
                </a:solidFill>
                <a:latin typeface="Canva Sans"/>
                <a:ea typeface="Canva Sans"/>
                <a:cs typeface="Canva Sans"/>
                <a:sym typeface="Canva Sans"/>
              </a:rPr>
              <a:t>Select available bus and seat</a:t>
            </a:r>
          </a:p>
          <a:p>
            <a:pPr marL="302261" lvl="1" indent="-151130" algn="just">
              <a:lnSpc>
                <a:spcPts val="1960"/>
              </a:lnSpc>
              <a:buAutoNum type="arabicPeriod"/>
            </a:pPr>
            <a:r>
              <a:rPr lang="en-US" sz="1400" dirty="0">
                <a:solidFill>
                  <a:srgbClr val="000000"/>
                </a:solidFill>
                <a:latin typeface="Canva Sans"/>
                <a:ea typeface="Canva Sans"/>
                <a:cs typeface="Canva Sans"/>
                <a:sym typeface="Canva Sans"/>
              </a:rPr>
              <a:t>Verify boarding and dropping points</a:t>
            </a:r>
          </a:p>
          <a:p>
            <a:pPr marL="302261" lvl="1" indent="-151130" algn="just">
              <a:lnSpc>
                <a:spcPts val="1960"/>
              </a:lnSpc>
              <a:buAutoNum type="arabicPeriod"/>
            </a:pPr>
            <a:r>
              <a:rPr lang="en-US" sz="1400" dirty="0">
                <a:solidFill>
                  <a:srgbClr val="000000"/>
                </a:solidFill>
                <a:latin typeface="Canva Sans"/>
                <a:ea typeface="Canva Sans"/>
                <a:cs typeface="Canva Sans"/>
                <a:sym typeface="Canva Sans"/>
              </a:rPr>
              <a:t>Enter passenger details</a:t>
            </a:r>
          </a:p>
          <a:p>
            <a:pPr marL="302261" lvl="1" indent="-151130" algn="just">
              <a:lnSpc>
                <a:spcPts val="1960"/>
              </a:lnSpc>
              <a:buAutoNum type="arabicPeriod"/>
            </a:pPr>
            <a:r>
              <a:rPr lang="en-US" sz="1400" dirty="0">
                <a:solidFill>
                  <a:srgbClr val="000000"/>
                </a:solidFill>
                <a:latin typeface="Canva Sans"/>
                <a:ea typeface="Canva Sans"/>
                <a:cs typeface="Canva Sans"/>
                <a:sym typeface="Canva Sans"/>
              </a:rPr>
              <a:t>Proceed to payment page</a:t>
            </a:r>
          </a:p>
          <a:p>
            <a:pPr marL="302261" lvl="1" indent="-151130" algn="just">
              <a:lnSpc>
                <a:spcPts val="1960"/>
              </a:lnSpc>
              <a:buAutoNum type="arabicPeriod"/>
            </a:pPr>
            <a:r>
              <a:rPr lang="en-US" sz="1400" dirty="0">
                <a:solidFill>
                  <a:srgbClr val="000000"/>
                </a:solidFill>
                <a:latin typeface="Canva Sans"/>
                <a:ea typeface="Canva Sans"/>
                <a:cs typeface="Canva Sans"/>
                <a:sym typeface="Canva Sans"/>
              </a:rPr>
              <a:t>Enter card details</a:t>
            </a:r>
          </a:p>
          <a:p>
            <a:pPr marL="302261" lvl="1" indent="-151130" algn="just">
              <a:lnSpc>
                <a:spcPts val="1960"/>
              </a:lnSpc>
              <a:buAutoNum type="arabicPeriod"/>
            </a:pPr>
            <a:r>
              <a:rPr lang="en-US" sz="1400" dirty="0">
                <a:solidFill>
                  <a:srgbClr val="000000"/>
                </a:solidFill>
                <a:latin typeface="Canva Sans"/>
                <a:ea typeface="Canva Sans"/>
                <a:cs typeface="Canva Sans"/>
                <a:sym typeface="Canva Sans"/>
              </a:rPr>
              <a:t>Close the browser</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5400000">
            <a:off x="5168751" y="2104078"/>
            <a:ext cx="7483383" cy="3275227"/>
          </a:xfrm>
          <a:custGeom>
            <a:avLst/>
            <a:gdLst/>
            <a:ahLst/>
            <a:cxnLst/>
            <a:rect l="l" t="t" r="r" b="b"/>
            <a:pathLst>
              <a:path w="7483383" h="3275227">
                <a:moveTo>
                  <a:pt x="0" y="0"/>
                </a:moveTo>
                <a:lnTo>
                  <a:pt x="7483383" y="0"/>
                </a:lnTo>
                <a:lnTo>
                  <a:pt x="7483383" y="3275227"/>
                </a:lnTo>
                <a:lnTo>
                  <a:pt x="0" y="3275227"/>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3" name="Freeform 3"/>
          <p:cNvSpPr/>
          <p:nvPr/>
        </p:nvSpPr>
        <p:spPr>
          <a:xfrm>
            <a:off x="250794" y="169534"/>
            <a:ext cx="1068911" cy="1068911"/>
          </a:xfrm>
          <a:custGeom>
            <a:avLst/>
            <a:gdLst/>
            <a:ahLst/>
            <a:cxnLst/>
            <a:rect l="l" t="t" r="r" b="b"/>
            <a:pathLst>
              <a:path w="1068911" h="1068911">
                <a:moveTo>
                  <a:pt x="0" y="0"/>
                </a:moveTo>
                <a:lnTo>
                  <a:pt x="1068911" y="0"/>
                </a:lnTo>
                <a:lnTo>
                  <a:pt x="1068911" y="1068911"/>
                </a:lnTo>
                <a:lnTo>
                  <a:pt x="0" y="1068911"/>
                </a:lnTo>
                <a:lnTo>
                  <a:pt x="0" y="0"/>
                </a:lnTo>
                <a:close/>
              </a:path>
            </a:pathLst>
          </a:custGeom>
          <a:blipFill>
            <a:blip r:embed="rId3"/>
            <a:stretch>
              <a:fillRect/>
            </a:stretch>
          </a:blipFill>
        </p:spPr>
      </p:sp>
      <p:sp>
        <p:nvSpPr>
          <p:cNvPr id="4" name="TextBox 4"/>
          <p:cNvSpPr txBox="1"/>
          <p:nvPr/>
        </p:nvSpPr>
        <p:spPr>
          <a:xfrm>
            <a:off x="2386621" y="451260"/>
            <a:ext cx="3501182" cy="448310"/>
          </a:xfrm>
          <a:prstGeom prst="rect">
            <a:avLst/>
          </a:prstGeom>
        </p:spPr>
        <p:txBody>
          <a:bodyPr lIns="0" tIns="0" rIns="0" bIns="0" rtlCol="0" anchor="t">
            <a:spAutoFit/>
          </a:bodyPr>
          <a:lstStyle/>
          <a:p>
            <a:pPr algn="ctr">
              <a:lnSpc>
                <a:spcPts val="3639"/>
              </a:lnSpc>
              <a:spcBef>
                <a:spcPct val="0"/>
              </a:spcBef>
            </a:pPr>
            <a:r>
              <a:rPr lang="en-US" sz="2599" b="1">
                <a:solidFill>
                  <a:srgbClr val="000000"/>
                </a:solidFill>
                <a:latin typeface="Canva Sans Bold"/>
                <a:ea typeface="Canva Sans Bold"/>
                <a:cs typeface="Canva Sans Bold"/>
                <a:sym typeface="Canva Sans Bold"/>
              </a:rPr>
              <a:t>Module Name: Flights</a:t>
            </a:r>
          </a:p>
        </p:txBody>
      </p:sp>
      <p:sp>
        <p:nvSpPr>
          <p:cNvPr id="5" name="TextBox 5"/>
          <p:cNvSpPr txBox="1"/>
          <p:nvPr/>
        </p:nvSpPr>
        <p:spPr>
          <a:xfrm>
            <a:off x="442359" y="1278361"/>
            <a:ext cx="7389705" cy="1257300"/>
          </a:xfrm>
          <a:prstGeom prst="rect">
            <a:avLst/>
          </a:prstGeom>
        </p:spPr>
        <p:txBody>
          <a:bodyPr lIns="0" tIns="0" rIns="0" bIns="0" rtlCol="0" anchor="t">
            <a:spAutoFit/>
          </a:bodyPr>
          <a:lstStyle/>
          <a:p>
            <a:pPr algn="l">
              <a:lnSpc>
                <a:spcPts val="1960"/>
              </a:lnSpc>
            </a:pPr>
            <a:r>
              <a:rPr lang="en-US" sz="1400" b="1" dirty="0">
                <a:solidFill>
                  <a:srgbClr val="000000"/>
                </a:solidFill>
                <a:latin typeface="Canva Sans Bold"/>
                <a:ea typeface="Canva Sans Bold"/>
                <a:cs typeface="Canva Sans Bold"/>
                <a:sym typeface="Canva Sans Bold"/>
              </a:rPr>
              <a:t>Objective</a:t>
            </a:r>
            <a:r>
              <a:rPr lang="en-US" sz="1400" dirty="0">
                <a:solidFill>
                  <a:srgbClr val="000000"/>
                </a:solidFill>
                <a:latin typeface="Canva Sans"/>
                <a:ea typeface="Canva Sans"/>
                <a:cs typeface="Canva Sans"/>
                <a:sym typeface="Canva Sans"/>
              </a:rPr>
              <a:t>: Automate and validate the end-to-end booking workflow for the Flights module on MakeMyTrip using Selenium + </a:t>
            </a:r>
            <a:r>
              <a:rPr lang="en-US" sz="1400" dirty="0" err="1">
                <a:solidFill>
                  <a:srgbClr val="000000"/>
                </a:solidFill>
                <a:latin typeface="Canva Sans"/>
                <a:ea typeface="Canva Sans"/>
                <a:cs typeface="Canva Sans"/>
                <a:sym typeface="Canva Sans"/>
              </a:rPr>
              <a:t>Pytest</a:t>
            </a:r>
            <a:r>
              <a:rPr lang="en-US" sz="1400" dirty="0">
                <a:solidFill>
                  <a:srgbClr val="000000"/>
                </a:solidFill>
                <a:latin typeface="Canva Sans"/>
                <a:ea typeface="Canva Sans"/>
                <a:cs typeface="Canva Sans"/>
                <a:sym typeface="Canva Sans"/>
              </a:rPr>
              <a:t> and BDD + Behave frameworks. The framework verifies search workflows, booking flow validations, filtering capabilities, passenger restrictions, and responsive interactions across multiple scenarios.</a:t>
            </a:r>
          </a:p>
          <a:p>
            <a:pPr algn="l">
              <a:lnSpc>
                <a:spcPts val="2240"/>
              </a:lnSpc>
              <a:spcBef>
                <a:spcPct val="0"/>
              </a:spcBef>
            </a:pPr>
            <a:endParaRPr lang="en-US" sz="1400" dirty="0">
              <a:solidFill>
                <a:srgbClr val="000000"/>
              </a:solidFill>
              <a:latin typeface="Canva Sans"/>
              <a:ea typeface="Canva Sans"/>
              <a:cs typeface="Canva Sans"/>
              <a:sym typeface="Canva Sans"/>
            </a:endParaRPr>
          </a:p>
        </p:txBody>
      </p:sp>
      <p:sp>
        <p:nvSpPr>
          <p:cNvPr id="6" name="AutoShape 6"/>
          <p:cNvSpPr/>
          <p:nvPr/>
        </p:nvSpPr>
        <p:spPr>
          <a:xfrm>
            <a:off x="4357103" y="2535660"/>
            <a:ext cx="0" cy="4520406"/>
          </a:xfrm>
          <a:prstGeom prst="line">
            <a:avLst/>
          </a:prstGeom>
          <a:ln w="38100" cap="flat">
            <a:solidFill>
              <a:srgbClr val="000000"/>
            </a:solidFill>
            <a:prstDash val="solid"/>
            <a:headEnd type="none" w="sm" len="sm"/>
            <a:tailEnd type="none" w="sm" len="sm"/>
          </a:ln>
        </p:spPr>
      </p:sp>
      <p:sp>
        <p:nvSpPr>
          <p:cNvPr id="7" name="TextBox 7"/>
          <p:cNvSpPr txBox="1"/>
          <p:nvPr/>
        </p:nvSpPr>
        <p:spPr>
          <a:xfrm>
            <a:off x="5075612" y="2459774"/>
            <a:ext cx="2599099" cy="297180"/>
          </a:xfrm>
          <a:prstGeom prst="rect">
            <a:avLst/>
          </a:prstGeom>
        </p:spPr>
        <p:txBody>
          <a:bodyPr wrap="square" lIns="0" tIns="0" rIns="0" bIns="0" rtlCol="0" anchor="t">
            <a:spAutoFit/>
          </a:bodyPr>
          <a:lstStyle/>
          <a:p>
            <a:pPr algn="l">
              <a:lnSpc>
                <a:spcPts val="2520"/>
              </a:lnSpc>
              <a:spcBef>
                <a:spcPct val="0"/>
              </a:spcBef>
            </a:pPr>
            <a:r>
              <a:rPr lang="en-US" sz="1800" b="1" dirty="0">
                <a:solidFill>
                  <a:srgbClr val="000000"/>
                </a:solidFill>
                <a:latin typeface="Canva Sans Bold"/>
                <a:ea typeface="Canva Sans Bold"/>
                <a:cs typeface="Canva Sans Bold"/>
                <a:sym typeface="Canva Sans Bold"/>
              </a:rPr>
              <a:t>Positive Test Scenarios</a:t>
            </a:r>
          </a:p>
        </p:txBody>
      </p:sp>
      <p:sp>
        <p:nvSpPr>
          <p:cNvPr id="8" name="TextBox 8"/>
          <p:cNvSpPr txBox="1"/>
          <p:nvPr/>
        </p:nvSpPr>
        <p:spPr>
          <a:xfrm>
            <a:off x="4834729" y="4426205"/>
            <a:ext cx="2995714" cy="264160"/>
          </a:xfrm>
          <a:prstGeom prst="rect">
            <a:avLst/>
          </a:prstGeom>
        </p:spPr>
        <p:txBody>
          <a:bodyPr wrap="square" lIns="0" tIns="0" rIns="0" bIns="0" rtlCol="0" anchor="t">
            <a:spAutoFit/>
          </a:bodyPr>
          <a:lstStyle/>
          <a:p>
            <a:pPr algn="ctr">
              <a:lnSpc>
                <a:spcPts val="2239"/>
              </a:lnSpc>
              <a:spcBef>
                <a:spcPct val="0"/>
              </a:spcBef>
            </a:pPr>
            <a:r>
              <a:rPr lang="en-US" sz="1599" b="1" dirty="0">
                <a:solidFill>
                  <a:srgbClr val="000000"/>
                </a:solidFill>
                <a:latin typeface="Canva Sans Bold"/>
                <a:ea typeface="Canva Sans Bold"/>
                <a:cs typeface="Canva Sans Bold"/>
                <a:sym typeface="Canva Sans Bold"/>
              </a:rPr>
              <a:t>Negative Test Scenarios</a:t>
            </a:r>
          </a:p>
        </p:txBody>
      </p:sp>
      <p:sp>
        <p:nvSpPr>
          <p:cNvPr id="9" name="TextBox 9"/>
          <p:cNvSpPr txBox="1"/>
          <p:nvPr/>
        </p:nvSpPr>
        <p:spPr>
          <a:xfrm>
            <a:off x="4708253" y="4818561"/>
            <a:ext cx="3349745" cy="2306205"/>
          </a:xfrm>
          <a:prstGeom prst="rect">
            <a:avLst/>
          </a:prstGeom>
        </p:spPr>
        <p:txBody>
          <a:bodyPr lIns="0" tIns="0" rIns="0" bIns="0" rtlCol="0" anchor="t">
            <a:spAutoFit/>
          </a:bodyPr>
          <a:lstStyle/>
          <a:p>
            <a:pPr marL="314032" lvl="1" indent="-157016" algn="l">
              <a:lnSpc>
                <a:spcPts val="2036"/>
              </a:lnSpc>
              <a:buFont typeface="Arial"/>
              <a:buChar char="•"/>
            </a:pPr>
            <a:r>
              <a:rPr lang="en-US" sz="1454" dirty="0">
                <a:solidFill>
                  <a:srgbClr val="000000"/>
                </a:solidFill>
                <a:latin typeface="Canva Sans"/>
                <a:ea typeface="Canva Sans"/>
                <a:cs typeface="Canva Sans"/>
                <a:sym typeface="Canva Sans"/>
              </a:rPr>
              <a:t>Infant Restriction Validation</a:t>
            </a:r>
          </a:p>
          <a:p>
            <a:pPr algn="l">
              <a:lnSpc>
                <a:spcPts val="2036"/>
              </a:lnSpc>
            </a:pPr>
            <a:r>
              <a:rPr lang="en-US" sz="1454" dirty="0">
                <a:solidFill>
                  <a:srgbClr val="000000"/>
                </a:solidFill>
                <a:latin typeface="Canva Sans"/>
                <a:ea typeface="Canva Sans"/>
                <a:cs typeface="Canva Sans"/>
                <a:sym typeface="Canva Sans"/>
              </a:rPr>
              <a:t>       [Verify error when number of</a:t>
            </a:r>
          </a:p>
          <a:p>
            <a:pPr algn="l">
              <a:lnSpc>
                <a:spcPts val="2036"/>
              </a:lnSpc>
            </a:pPr>
            <a:r>
              <a:rPr lang="en-US" sz="1454" dirty="0">
                <a:solidFill>
                  <a:srgbClr val="000000"/>
                </a:solidFill>
                <a:latin typeface="Canva Sans"/>
                <a:ea typeface="Canva Sans"/>
                <a:cs typeface="Canva Sans"/>
                <a:sym typeface="Canva Sans"/>
              </a:rPr>
              <a:t>       infants exceeds adults.]</a:t>
            </a:r>
          </a:p>
          <a:p>
            <a:pPr marL="314032" lvl="1" indent="-157016" algn="l">
              <a:lnSpc>
                <a:spcPts val="2036"/>
              </a:lnSpc>
              <a:buFont typeface="Arial"/>
              <a:buChar char="•"/>
            </a:pPr>
            <a:r>
              <a:rPr lang="en-US" sz="1454" dirty="0">
                <a:solidFill>
                  <a:srgbClr val="000000"/>
                </a:solidFill>
                <a:latin typeface="Canva Sans"/>
                <a:ea typeface="Canva Sans"/>
                <a:cs typeface="Canva Sans"/>
                <a:sym typeface="Canva Sans"/>
              </a:rPr>
              <a:t>Same Source and Destination</a:t>
            </a:r>
          </a:p>
          <a:p>
            <a:pPr algn="l">
              <a:lnSpc>
                <a:spcPts val="2036"/>
              </a:lnSpc>
            </a:pPr>
            <a:r>
              <a:rPr lang="en-US" sz="1454" dirty="0">
                <a:solidFill>
                  <a:srgbClr val="000000"/>
                </a:solidFill>
                <a:latin typeface="Canva Sans"/>
                <a:ea typeface="Canva Sans"/>
                <a:cs typeface="Canva Sans"/>
                <a:sym typeface="Canva Sans"/>
              </a:rPr>
              <a:t>       [Verify error when same city </a:t>
            </a:r>
          </a:p>
          <a:p>
            <a:pPr algn="l">
              <a:lnSpc>
                <a:spcPts val="2036"/>
              </a:lnSpc>
            </a:pPr>
            <a:r>
              <a:rPr lang="en-US" sz="1454" dirty="0">
                <a:solidFill>
                  <a:srgbClr val="000000"/>
                </a:solidFill>
                <a:latin typeface="Canva Sans"/>
                <a:ea typeface="Canva Sans"/>
                <a:cs typeface="Canva Sans"/>
                <a:sym typeface="Canva Sans"/>
              </a:rPr>
              <a:t>        are selected.]</a:t>
            </a:r>
          </a:p>
          <a:p>
            <a:pPr algn="l">
              <a:lnSpc>
                <a:spcPts val="2036"/>
              </a:lnSpc>
            </a:pPr>
            <a:endParaRPr lang="en-US" sz="1454" dirty="0">
              <a:solidFill>
                <a:srgbClr val="000000"/>
              </a:solidFill>
              <a:latin typeface="Canva Sans"/>
              <a:ea typeface="Canva Sans"/>
              <a:cs typeface="Canva Sans"/>
              <a:sym typeface="Canva Sans"/>
            </a:endParaRPr>
          </a:p>
          <a:p>
            <a:pPr algn="l">
              <a:lnSpc>
                <a:spcPts val="2036"/>
              </a:lnSpc>
            </a:pPr>
            <a:endParaRPr lang="en-US" sz="1454" dirty="0">
              <a:solidFill>
                <a:srgbClr val="000000"/>
              </a:solidFill>
              <a:latin typeface="Canva Sans"/>
              <a:ea typeface="Canva Sans"/>
              <a:cs typeface="Canva Sans"/>
              <a:sym typeface="Canva Sans"/>
            </a:endParaRPr>
          </a:p>
          <a:p>
            <a:pPr algn="l">
              <a:lnSpc>
                <a:spcPts val="2036"/>
              </a:lnSpc>
            </a:pPr>
            <a:endParaRPr lang="en-US" sz="1454" dirty="0">
              <a:solidFill>
                <a:srgbClr val="000000"/>
              </a:solidFill>
              <a:latin typeface="Canva Sans"/>
              <a:ea typeface="Canva Sans"/>
              <a:cs typeface="Canva Sans"/>
              <a:sym typeface="Canva Sans"/>
            </a:endParaRPr>
          </a:p>
        </p:txBody>
      </p:sp>
      <p:sp>
        <p:nvSpPr>
          <p:cNvPr id="10" name="TextBox 10"/>
          <p:cNvSpPr txBox="1"/>
          <p:nvPr/>
        </p:nvSpPr>
        <p:spPr>
          <a:xfrm>
            <a:off x="4605184" y="2902838"/>
            <a:ext cx="3898274" cy="1477834"/>
          </a:xfrm>
          <a:prstGeom prst="rect">
            <a:avLst/>
          </a:prstGeom>
        </p:spPr>
        <p:txBody>
          <a:bodyPr lIns="0" tIns="0" rIns="0" bIns="0" rtlCol="0" anchor="t">
            <a:spAutoFit/>
          </a:bodyPr>
          <a:lstStyle/>
          <a:p>
            <a:pPr marL="311448" lvl="1" indent="-155724" algn="just">
              <a:lnSpc>
                <a:spcPts val="2019"/>
              </a:lnSpc>
              <a:buFont typeface="Arial"/>
              <a:buChar char="•"/>
            </a:pPr>
            <a:r>
              <a:rPr lang="en-US" sz="1442" dirty="0">
                <a:solidFill>
                  <a:srgbClr val="000000"/>
                </a:solidFill>
                <a:latin typeface="Canva Sans"/>
                <a:ea typeface="Canva Sans"/>
                <a:cs typeface="Canva Sans"/>
                <a:sym typeface="Canva Sans"/>
              </a:rPr>
              <a:t>One-Way Flight Search Validation</a:t>
            </a:r>
          </a:p>
          <a:p>
            <a:pPr marL="311448" lvl="1" indent="-155724" algn="just">
              <a:lnSpc>
                <a:spcPts val="2019"/>
              </a:lnSpc>
              <a:buFont typeface="Arial"/>
              <a:buChar char="•"/>
            </a:pPr>
            <a:r>
              <a:rPr lang="en-US" sz="1442" dirty="0">
                <a:solidFill>
                  <a:srgbClr val="000000"/>
                </a:solidFill>
                <a:latin typeface="Canva Sans"/>
                <a:ea typeface="Canva Sans"/>
                <a:cs typeface="Canva Sans"/>
                <a:sym typeface="Canva Sans"/>
              </a:rPr>
              <a:t>Dynamic City Selection</a:t>
            </a:r>
          </a:p>
          <a:p>
            <a:pPr marL="311448" lvl="1" indent="-155724" algn="just">
              <a:lnSpc>
                <a:spcPts val="2019"/>
              </a:lnSpc>
              <a:buFont typeface="Arial"/>
              <a:buChar char="•"/>
            </a:pPr>
            <a:r>
              <a:rPr lang="en-US" sz="1442" dirty="0">
                <a:solidFill>
                  <a:srgbClr val="000000"/>
                </a:solidFill>
                <a:latin typeface="Canva Sans"/>
                <a:ea typeface="Canva Sans"/>
                <a:cs typeface="Canva Sans"/>
                <a:sym typeface="Canva Sans"/>
              </a:rPr>
              <a:t>Non-Stop Flight Filter Validation</a:t>
            </a:r>
          </a:p>
          <a:p>
            <a:pPr marL="311448" lvl="1" indent="-155724" algn="just">
              <a:lnSpc>
                <a:spcPts val="2019"/>
              </a:lnSpc>
              <a:buFont typeface="Arial"/>
              <a:buChar char="•"/>
            </a:pPr>
            <a:r>
              <a:rPr lang="en-US" sz="1442" dirty="0">
                <a:solidFill>
                  <a:srgbClr val="000000"/>
                </a:solidFill>
                <a:latin typeface="Canva Sans"/>
                <a:ea typeface="Canva Sans"/>
                <a:cs typeface="Canva Sans"/>
                <a:sym typeface="Canva Sans"/>
              </a:rPr>
              <a:t>Airline Filter Verification (Example: Air India)</a:t>
            </a:r>
          </a:p>
          <a:p>
            <a:pPr algn="just">
              <a:lnSpc>
                <a:spcPts val="2019"/>
              </a:lnSpc>
            </a:pPr>
            <a:endParaRPr lang="en-US" sz="1442" dirty="0">
              <a:solidFill>
                <a:srgbClr val="000000"/>
              </a:solidFill>
              <a:latin typeface="Canva Sans"/>
              <a:ea typeface="Canva Sans"/>
              <a:cs typeface="Canva Sans"/>
              <a:sym typeface="Canva Sans"/>
            </a:endParaRPr>
          </a:p>
        </p:txBody>
      </p:sp>
      <p:sp>
        <p:nvSpPr>
          <p:cNvPr id="11" name="TextBox 11"/>
          <p:cNvSpPr txBox="1"/>
          <p:nvPr/>
        </p:nvSpPr>
        <p:spPr>
          <a:xfrm>
            <a:off x="684247" y="2465865"/>
            <a:ext cx="2225306" cy="297180"/>
          </a:xfrm>
          <a:prstGeom prst="rect">
            <a:avLst/>
          </a:prstGeom>
        </p:spPr>
        <p:txBody>
          <a:bodyPr wrap="square" lIns="0" tIns="0" rIns="0" bIns="0" rtlCol="0" anchor="t">
            <a:spAutoFit/>
          </a:bodyPr>
          <a:lstStyle/>
          <a:p>
            <a:pPr algn="ctr">
              <a:lnSpc>
                <a:spcPts val="2520"/>
              </a:lnSpc>
              <a:spcBef>
                <a:spcPct val="0"/>
              </a:spcBef>
            </a:pPr>
            <a:r>
              <a:rPr lang="en-US" sz="1800" b="1" dirty="0">
                <a:solidFill>
                  <a:srgbClr val="000000"/>
                </a:solidFill>
                <a:latin typeface="Canva Sans Bold"/>
                <a:ea typeface="Canva Sans Bold"/>
                <a:cs typeface="Canva Sans Bold"/>
                <a:sym typeface="Canva Sans Bold"/>
              </a:rPr>
              <a:t>Flow of End to End</a:t>
            </a:r>
          </a:p>
        </p:txBody>
      </p:sp>
      <p:sp>
        <p:nvSpPr>
          <p:cNvPr id="12" name="TextBox 12"/>
          <p:cNvSpPr txBox="1"/>
          <p:nvPr/>
        </p:nvSpPr>
        <p:spPr>
          <a:xfrm>
            <a:off x="413176" y="2953330"/>
            <a:ext cx="3772733" cy="3707765"/>
          </a:xfrm>
          <a:prstGeom prst="rect">
            <a:avLst/>
          </a:prstGeom>
        </p:spPr>
        <p:txBody>
          <a:bodyPr lIns="0" tIns="0" rIns="0" bIns="0" rtlCol="0" anchor="t">
            <a:spAutoFit/>
          </a:bodyPr>
          <a:lstStyle/>
          <a:p>
            <a:pPr marL="302261" lvl="1" indent="-151130" algn="l">
              <a:lnSpc>
                <a:spcPts val="1960"/>
              </a:lnSpc>
              <a:buAutoNum type="arabicPeriod"/>
            </a:pPr>
            <a:r>
              <a:rPr lang="en-US" sz="1400" dirty="0">
                <a:solidFill>
                  <a:srgbClr val="000000"/>
                </a:solidFill>
                <a:latin typeface="Canva Sans"/>
                <a:ea typeface="Canva Sans"/>
                <a:cs typeface="Canva Sans"/>
                <a:sym typeface="Canva Sans"/>
              </a:rPr>
              <a:t>Launch MakeMyTrip application</a:t>
            </a:r>
          </a:p>
          <a:p>
            <a:pPr marL="302261" lvl="1" indent="-151130" algn="l">
              <a:lnSpc>
                <a:spcPts val="1960"/>
              </a:lnSpc>
              <a:buAutoNum type="arabicPeriod"/>
            </a:pPr>
            <a:r>
              <a:rPr lang="en-US" sz="1400" dirty="0">
                <a:solidFill>
                  <a:srgbClr val="000000"/>
                </a:solidFill>
                <a:latin typeface="Canva Sans"/>
                <a:ea typeface="Canva Sans"/>
                <a:cs typeface="Canva Sans"/>
                <a:sym typeface="Canva Sans"/>
              </a:rPr>
              <a:t>Handle overlay modal</a:t>
            </a:r>
          </a:p>
          <a:p>
            <a:pPr marL="302261" lvl="1" indent="-151130" algn="l">
              <a:lnSpc>
                <a:spcPts val="1960"/>
              </a:lnSpc>
              <a:buAutoNum type="arabicPeriod"/>
            </a:pPr>
            <a:r>
              <a:rPr lang="en-US" sz="1400" dirty="0">
                <a:solidFill>
                  <a:srgbClr val="000000"/>
                </a:solidFill>
                <a:latin typeface="Canva Sans"/>
                <a:ea typeface="Canva Sans"/>
                <a:cs typeface="Canva Sans"/>
                <a:sym typeface="Canva Sans"/>
              </a:rPr>
              <a:t>Navigate to Flights module</a:t>
            </a:r>
          </a:p>
          <a:p>
            <a:pPr marL="302261" lvl="1" indent="-151130" algn="l">
              <a:lnSpc>
                <a:spcPts val="1960"/>
              </a:lnSpc>
              <a:buAutoNum type="arabicPeriod"/>
            </a:pPr>
            <a:r>
              <a:rPr lang="en-US" sz="1400" dirty="0">
                <a:solidFill>
                  <a:srgbClr val="000000"/>
                </a:solidFill>
                <a:latin typeface="Canva Sans"/>
                <a:ea typeface="Canva Sans"/>
                <a:cs typeface="Canva Sans"/>
                <a:sym typeface="Canva Sans"/>
              </a:rPr>
              <a:t>Select trip type (One Way)</a:t>
            </a:r>
          </a:p>
          <a:p>
            <a:pPr marL="302261" lvl="1" indent="-151130" algn="l">
              <a:lnSpc>
                <a:spcPts val="1960"/>
              </a:lnSpc>
              <a:buAutoNum type="arabicPeriod"/>
            </a:pPr>
            <a:r>
              <a:rPr lang="en-US" sz="1400" dirty="0">
                <a:solidFill>
                  <a:srgbClr val="000000"/>
                </a:solidFill>
                <a:latin typeface="Canva Sans"/>
                <a:ea typeface="Canva Sans"/>
                <a:cs typeface="Canva Sans"/>
                <a:sym typeface="Canva Sans"/>
              </a:rPr>
              <a:t>Enter source and destination cities</a:t>
            </a:r>
          </a:p>
          <a:p>
            <a:pPr marL="302261" lvl="1" indent="-151130" algn="l">
              <a:lnSpc>
                <a:spcPts val="1960"/>
              </a:lnSpc>
              <a:buAutoNum type="arabicPeriod"/>
            </a:pPr>
            <a:r>
              <a:rPr lang="en-US" sz="1400" dirty="0">
                <a:solidFill>
                  <a:srgbClr val="000000"/>
                </a:solidFill>
                <a:latin typeface="Canva Sans"/>
                <a:ea typeface="Canva Sans"/>
                <a:cs typeface="Canva Sans"/>
                <a:sym typeface="Canva Sans"/>
              </a:rPr>
              <a:t>Select departure date</a:t>
            </a:r>
          </a:p>
          <a:p>
            <a:pPr marL="302261" lvl="1" indent="-151130" algn="l">
              <a:lnSpc>
                <a:spcPts val="1960"/>
              </a:lnSpc>
              <a:buAutoNum type="arabicPeriod"/>
            </a:pPr>
            <a:r>
              <a:rPr lang="en-US" sz="1400" dirty="0">
                <a:solidFill>
                  <a:srgbClr val="000000"/>
                </a:solidFill>
                <a:latin typeface="Canva Sans"/>
                <a:ea typeface="Canva Sans"/>
                <a:cs typeface="Canva Sans"/>
                <a:sym typeface="Canva Sans"/>
              </a:rPr>
              <a:t>Execute flight search</a:t>
            </a:r>
          </a:p>
          <a:p>
            <a:pPr marL="302261" lvl="1" indent="-151130" algn="l">
              <a:lnSpc>
                <a:spcPts val="1960"/>
              </a:lnSpc>
              <a:buAutoNum type="arabicPeriod"/>
            </a:pPr>
            <a:r>
              <a:rPr lang="en-US" sz="1400" dirty="0">
                <a:solidFill>
                  <a:srgbClr val="000000"/>
                </a:solidFill>
                <a:latin typeface="Canva Sans"/>
                <a:ea typeface="Canva Sans"/>
                <a:cs typeface="Canva Sans"/>
                <a:sym typeface="Canva Sans"/>
              </a:rPr>
              <a:t>Open fare details, “View Prices”</a:t>
            </a:r>
          </a:p>
          <a:p>
            <a:pPr marL="302261" lvl="1" indent="-151130" algn="l">
              <a:lnSpc>
                <a:spcPts val="1960"/>
              </a:lnSpc>
              <a:buAutoNum type="arabicPeriod"/>
            </a:pPr>
            <a:r>
              <a:rPr lang="en-US" sz="1400" dirty="0">
                <a:solidFill>
                  <a:srgbClr val="000000"/>
                </a:solidFill>
                <a:latin typeface="Canva Sans"/>
                <a:ea typeface="Canva Sans"/>
                <a:cs typeface="Canva Sans"/>
                <a:sym typeface="Canva Sans"/>
              </a:rPr>
              <a:t>Proceed with “Book Now” flow</a:t>
            </a:r>
          </a:p>
          <a:p>
            <a:pPr marL="302261" lvl="1" indent="-151130" algn="l">
              <a:lnSpc>
                <a:spcPts val="1960"/>
              </a:lnSpc>
              <a:buAutoNum type="arabicPeriod"/>
            </a:pPr>
            <a:r>
              <a:rPr lang="en-US" sz="1400" dirty="0">
                <a:solidFill>
                  <a:srgbClr val="000000"/>
                </a:solidFill>
                <a:latin typeface="Canva Sans"/>
                <a:ea typeface="Canva Sans"/>
                <a:cs typeface="Canva Sans"/>
                <a:sym typeface="Canva Sans"/>
              </a:rPr>
              <a:t>Validate booking page redirection</a:t>
            </a:r>
          </a:p>
          <a:p>
            <a:pPr marL="302261" lvl="1" indent="-151130" algn="l">
              <a:lnSpc>
                <a:spcPts val="1960"/>
              </a:lnSpc>
              <a:buAutoNum type="arabicPeriod"/>
            </a:pPr>
            <a:r>
              <a:rPr lang="en-US" sz="1400" dirty="0">
                <a:solidFill>
                  <a:srgbClr val="000000"/>
                </a:solidFill>
                <a:latin typeface="Canva Sans"/>
                <a:ea typeface="Canva Sans"/>
                <a:cs typeface="Canva Sans"/>
                <a:sym typeface="Canva Sans"/>
              </a:rPr>
              <a:t>Add passenger details</a:t>
            </a:r>
          </a:p>
          <a:p>
            <a:pPr marL="302261" lvl="1" indent="-151130" algn="l">
              <a:lnSpc>
                <a:spcPts val="1960"/>
              </a:lnSpc>
              <a:buAutoNum type="arabicPeriod"/>
            </a:pPr>
            <a:r>
              <a:rPr lang="en-US" sz="1400" dirty="0">
                <a:solidFill>
                  <a:srgbClr val="000000"/>
                </a:solidFill>
                <a:latin typeface="Canva Sans"/>
                <a:ea typeface="Canva Sans"/>
                <a:cs typeface="Canva Sans"/>
                <a:sym typeface="Canva Sans"/>
              </a:rPr>
              <a:t>Enter contact information </a:t>
            </a:r>
          </a:p>
          <a:p>
            <a:pPr marL="302261" lvl="1" indent="-151130" algn="l">
              <a:lnSpc>
                <a:spcPts val="1960"/>
              </a:lnSpc>
              <a:buAutoNum type="arabicPeriod"/>
            </a:pPr>
            <a:r>
              <a:rPr lang="en-US" sz="1400" dirty="0">
                <a:solidFill>
                  <a:srgbClr val="000000"/>
                </a:solidFill>
                <a:latin typeface="Canva Sans"/>
                <a:ea typeface="Canva Sans"/>
                <a:cs typeface="Canva Sans"/>
                <a:sym typeface="Canva Sans"/>
              </a:rPr>
              <a:t>Validate required field behavior</a:t>
            </a:r>
          </a:p>
          <a:p>
            <a:pPr marL="302261" lvl="1" indent="-151130" algn="l">
              <a:lnSpc>
                <a:spcPts val="1960"/>
              </a:lnSpc>
              <a:buAutoNum type="arabicPeriod"/>
            </a:pPr>
            <a:r>
              <a:rPr lang="en-US" sz="1400" dirty="0">
                <a:solidFill>
                  <a:srgbClr val="000000"/>
                </a:solidFill>
                <a:latin typeface="Canva Sans"/>
                <a:ea typeface="Canva Sans"/>
                <a:cs typeface="Canva Sans"/>
                <a:sym typeface="Canva Sans"/>
              </a:rPr>
              <a:t>Confirm booking.</a:t>
            </a:r>
          </a:p>
          <a:p>
            <a:pPr algn="l">
              <a:lnSpc>
                <a:spcPts val="1960"/>
              </a:lnSpc>
            </a:pPr>
            <a:endParaRPr lang="en-US" sz="1400" dirty="0">
              <a:solidFill>
                <a:srgbClr val="000000"/>
              </a:solidFill>
              <a:latin typeface="Canva Sans"/>
              <a:ea typeface="Canva Sans"/>
              <a:cs typeface="Canva Sans"/>
              <a:sym typeface="Canva Sans"/>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5400000">
            <a:off x="4374295" y="2104078"/>
            <a:ext cx="7483383" cy="3275227"/>
          </a:xfrm>
          <a:custGeom>
            <a:avLst/>
            <a:gdLst/>
            <a:ahLst/>
            <a:cxnLst/>
            <a:rect l="l" t="t" r="r" b="b"/>
            <a:pathLst>
              <a:path w="7483383" h="3275227">
                <a:moveTo>
                  <a:pt x="0" y="0"/>
                </a:moveTo>
                <a:lnTo>
                  <a:pt x="7483383" y="0"/>
                </a:lnTo>
                <a:lnTo>
                  <a:pt x="7483383" y="3275227"/>
                </a:lnTo>
                <a:lnTo>
                  <a:pt x="0" y="3275227"/>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3" name="Freeform 3"/>
          <p:cNvSpPr/>
          <p:nvPr/>
        </p:nvSpPr>
        <p:spPr>
          <a:xfrm>
            <a:off x="250794" y="169534"/>
            <a:ext cx="1068911" cy="1068911"/>
          </a:xfrm>
          <a:custGeom>
            <a:avLst/>
            <a:gdLst/>
            <a:ahLst/>
            <a:cxnLst/>
            <a:rect l="l" t="t" r="r" b="b"/>
            <a:pathLst>
              <a:path w="1068911" h="1068911">
                <a:moveTo>
                  <a:pt x="0" y="0"/>
                </a:moveTo>
                <a:lnTo>
                  <a:pt x="1068911" y="0"/>
                </a:lnTo>
                <a:lnTo>
                  <a:pt x="1068911" y="1068911"/>
                </a:lnTo>
                <a:lnTo>
                  <a:pt x="0" y="1068911"/>
                </a:lnTo>
                <a:lnTo>
                  <a:pt x="0" y="0"/>
                </a:lnTo>
                <a:close/>
              </a:path>
            </a:pathLst>
          </a:custGeom>
          <a:blipFill>
            <a:blip r:embed="rId3"/>
            <a:stretch>
              <a:fillRect/>
            </a:stretch>
          </a:blipFill>
        </p:spPr>
      </p:sp>
      <p:sp>
        <p:nvSpPr>
          <p:cNvPr id="4" name="TextBox 4"/>
          <p:cNvSpPr txBox="1"/>
          <p:nvPr/>
        </p:nvSpPr>
        <p:spPr>
          <a:xfrm>
            <a:off x="2373098" y="451260"/>
            <a:ext cx="3646701" cy="448310"/>
          </a:xfrm>
          <a:prstGeom prst="rect">
            <a:avLst/>
          </a:prstGeom>
        </p:spPr>
        <p:txBody>
          <a:bodyPr wrap="square" lIns="0" tIns="0" rIns="0" bIns="0" rtlCol="0" anchor="t">
            <a:spAutoFit/>
          </a:bodyPr>
          <a:lstStyle/>
          <a:p>
            <a:pPr algn="ctr">
              <a:lnSpc>
                <a:spcPts val="3639"/>
              </a:lnSpc>
              <a:spcBef>
                <a:spcPct val="0"/>
              </a:spcBef>
            </a:pPr>
            <a:r>
              <a:rPr lang="en-US" sz="2599" b="1" dirty="0">
                <a:solidFill>
                  <a:srgbClr val="000000"/>
                </a:solidFill>
                <a:latin typeface="Canva Sans Bold"/>
                <a:ea typeface="Canva Sans Bold"/>
                <a:cs typeface="Canva Sans Bold"/>
                <a:sym typeface="Canva Sans Bold"/>
              </a:rPr>
              <a:t>Module Name: Trains</a:t>
            </a:r>
          </a:p>
        </p:txBody>
      </p:sp>
      <p:sp>
        <p:nvSpPr>
          <p:cNvPr id="5" name="TextBox 5"/>
          <p:cNvSpPr txBox="1"/>
          <p:nvPr/>
        </p:nvSpPr>
        <p:spPr>
          <a:xfrm>
            <a:off x="639002" y="3010102"/>
            <a:ext cx="2636226" cy="335541"/>
          </a:xfrm>
          <a:prstGeom prst="rect">
            <a:avLst/>
          </a:prstGeom>
        </p:spPr>
        <p:txBody>
          <a:bodyPr wrap="square" lIns="0" tIns="0" rIns="0" bIns="0" rtlCol="0" anchor="t">
            <a:spAutoFit/>
          </a:bodyPr>
          <a:lstStyle/>
          <a:p>
            <a:pPr algn="ctr">
              <a:lnSpc>
                <a:spcPts val="2800"/>
              </a:lnSpc>
              <a:spcBef>
                <a:spcPct val="0"/>
              </a:spcBef>
            </a:pPr>
            <a:r>
              <a:rPr lang="en-US" sz="2000" b="1" dirty="0">
                <a:solidFill>
                  <a:srgbClr val="000000"/>
                </a:solidFill>
                <a:latin typeface="Canva Sans Bold"/>
                <a:ea typeface="Canva Sans Bold"/>
                <a:cs typeface="Canva Sans Bold"/>
                <a:sym typeface="Canva Sans Bold"/>
              </a:rPr>
              <a:t>Flow of End to End</a:t>
            </a:r>
          </a:p>
        </p:txBody>
      </p:sp>
      <p:sp>
        <p:nvSpPr>
          <p:cNvPr id="6" name="TextBox 6"/>
          <p:cNvSpPr txBox="1"/>
          <p:nvPr/>
        </p:nvSpPr>
        <p:spPr>
          <a:xfrm>
            <a:off x="4383750" y="3099264"/>
            <a:ext cx="3057289" cy="335541"/>
          </a:xfrm>
          <a:prstGeom prst="rect">
            <a:avLst/>
          </a:prstGeom>
        </p:spPr>
        <p:txBody>
          <a:bodyPr wrap="square" lIns="0" tIns="0" rIns="0" bIns="0" rtlCol="0" anchor="t">
            <a:spAutoFit/>
          </a:bodyPr>
          <a:lstStyle/>
          <a:p>
            <a:pPr algn="ctr">
              <a:lnSpc>
                <a:spcPts val="2800"/>
              </a:lnSpc>
              <a:spcBef>
                <a:spcPct val="0"/>
              </a:spcBef>
            </a:pPr>
            <a:r>
              <a:rPr lang="en-US" sz="2000" b="1" dirty="0">
                <a:solidFill>
                  <a:srgbClr val="000000"/>
                </a:solidFill>
                <a:latin typeface="Canva Sans Bold"/>
                <a:ea typeface="Canva Sans Bold"/>
                <a:cs typeface="Canva Sans Bold"/>
                <a:sym typeface="Canva Sans Bold"/>
              </a:rPr>
              <a:t>Positive Test Scenarios</a:t>
            </a:r>
          </a:p>
        </p:txBody>
      </p:sp>
      <p:sp>
        <p:nvSpPr>
          <p:cNvPr id="7" name="TextBox 7"/>
          <p:cNvSpPr txBox="1"/>
          <p:nvPr/>
        </p:nvSpPr>
        <p:spPr>
          <a:xfrm>
            <a:off x="4490410" y="4847639"/>
            <a:ext cx="3132298" cy="335541"/>
          </a:xfrm>
          <a:prstGeom prst="rect">
            <a:avLst/>
          </a:prstGeom>
        </p:spPr>
        <p:txBody>
          <a:bodyPr wrap="square" lIns="0" tIns="0" rIns="0" bIns="0" rtlCol="0" anchor="t">
            <a:spAutoFit/>
          </a:bodyPr>
          <a:lstStyle/>
          <a:p>
            <a:pPr algn="ctr">
              <a:lnSpc>
                <a:spcPts val="2800"/>
              </a:lnSpc>
              <a:spcBef>
                <a:spcPct val="0"/>
              </a:spcBef>
            </a:pPr>
            <a:r>
              <a:rPr lang="en-US" sz="2000" b="1" dirty="0">
                <a:solidFill>
                  <a:srgbClr val="000000"/>
                </a:solidFill>
                <a:latin typeface="Canva Sans Bold"/>
                <a:ea typeface="Canva Sans Bold"/>
                <a:cs typeface="Canva Sans Bold"/>
                <a:sym typeface="Canva Sans Bold"/>
              </a:rPr>
              <a:t>Negative Test Scenarios</a:t>
            </a:r>
          </a:p>
        </p:txBody>
      </p:sp>
      <p:sp>
        <p:nvSpPr>
          <p:cNvPr id="8" name="TextBox 8"/>
          <p:cNvSpPr txBox="1"/>
          <p:nvPr/>
        </p:nvSpPr>
        <p:spPr>
          <a:xfrm>
            <a:off x="371316" y="1316391"/>
            <a:ext cx="7107228" cy="1478915"/>
          </a:xfrm>
          <a:prstGeom prst="rect">
            <a:avLst/>
          </a:prstGeom>
        </p:spPr>
        <p:txBody>
          <a:bodyPr lIns="0" tIns="0" rIns="0" bIns="0" rtlCol="0" anchor="t">
            <a:spAutoFit/>
          </a:bodyPr>
          <a:lstStyle/>
          <a:p>
            <a:pPr algn="l">
              <a:lnSpc>
                <a:spcPts val="1960"/>
              </a:lnSpc>
            </a:pPr>
            <a:r>
              <a:rPr lang="en-US" sz="1400" b="1">
                <a:solidFill>
                  <a:srgbClr val="000000"/>
                </a:solidFill>
                <a:latin typeface="Canva Sans Bold"/>
                <a:ea typeface="Canva Sans Bold"/>
                <a:cs typeface="Canva Sans Bold"/>
                <a:sym typeface="Canva Sans Bold"/>
              </a:rPr>
              <a:t>Objective</a:t>
            </a:r>
            <a:r>
              <a:rPr lang="en-US" sz="1400">
                <a:solidFill>
                  <a:srgbClr val="000000"/>
                </a:solidFill>
                <a:latin typeface="Canva Sans"/>
                <a:ea typeface="Canva Sans"/>
                <a:cs typeface="Canva Sans"/>
                <a:sym typeface="Canva Sans"/>
              </a:rPr>
              <a:t>: The main goal of this project was to make sure the entire train ticket booking process works perfectly from start to finish. To achieve this, I wrote an automated script that acts like a real user. It automatically searches for train routes, picks an available seat, and fills in all the passenger details using information saved in Excel files. Finally, the script double-checks that the website safely makes it to the final payment page without freezing or showing any errors.</a:t>
            </a:r>
          </a:p>
        </p:txBody>
      </p:sp>
      <p:sp>
        <p:nvSpPr>
          <p:cNvPr id="9" name="TextBox 9"/>
          <p:cNvSpPr txBox="1"/>
          <p:nvPr/>
        </p:nvSpPr>
        <p:spPr>
          <a:xfrm>
            <a:off x="363346" y="3484817"/>
            <a:ext cx="3656834" cy="3707765"/>
          </a:xfrm>
          <a:prstGeom prst="rect">
            <a:avLst/>
          </a:prstGeom>
        </p:spPr>
        <p:txBody>
          <a:bodyPr lIns="0" tIns="0" rIns="0" bIns="0" rtlCol="0" anchor="t">
            <a:spAutoFit/>
          </a:bodyPr>
          <a:lstStyle/>
          <a:p>
            <a:pPr marL="302261" lvl="1" indent="-151130" algn="l">
              <a:lnSpc>
                <a:spcPts val="1960"/>
              </a:lnSpc>
              <a:buAutoNum type="arabicPeriod"/>
            </a:pPr>
            <a:r>
              <a:rPr lang="en-US" sz="1400">
                <a:solidFill>
                  <a:srgbClr val="000000"/>
                </a:solidFill>
                <a:latin typeface="Canva Sans"/>
                <a:ea typeface="Canva Sans"/>
                <a:cs typeface="Canva Sans"/>
                <a:sym typeface="Canva Sans"/>
              </a:rPr>
              <a:t>Launch MakeMyTrip application</a:t>
            </a:r>
          </a:p>
          <a:p>
            <a:pPr marL="302261" lvl="1" indent="-151130" algn="l">
              <a:lnSpc>
                <a:spcPts val="1960"/>
              </a:lnSpc>
              <a:buAutoNum type="arabicPeriod"/>
            </a:pPr>
            <a:r>
              <a:rPr lang="en-US" sz="1400">
                <a:solidFill>
                  <a:srgbClr val="000000"/>
                </a:solidFill>
                <a:latin typeface="Canva Sans"/>
                <a:ea typeface="Canva Sans"/>
                <a:cs typeface="Canva Sans"/>
                <a:sym typeface="Canva Sans"/>
              </a:rPr>
              <a:t>Close login popup</a:t>
            </a:r>
          </a:p>
          <a:p>
            <a:pPr marL="302261" lvl="1" indent="-151130" algn="l">
              <a:lnSpc>
                <a:spcPts val="1960"/>
              </a:lnSpc>
              <a:buAutoNum type="arabicPeriod"/>
            </a:pPr>
            <a:r>
              <a:rPr lang="en-US" sz="1400">
                <a:solidFill>
                  <a:srgbClr val="000000"/>
                </a:solidFill>
                <a:latin typeface="Canva Sans"/>
                <a:ea typeface="Canva Sans"/>
                <a:cs typeface="Canva Sans"/>
                <a:sym typeface="Canva Sans"/>
              </a:rPr>
              <a:t>Navigate to Trains module</a:t>
            </a:r>
          </a:p>
          <a:p>
            <a:pPr marL="302261" lvl="1" indent="-151130" algn="l">
              <a:lnSpc>
                <a:spcPts val="1960"/>
              </a:lnSpc>
              <a:buAutoNum type="arabicPeriod"/>
            </a:pPr>
            <a:r>
              <a:rPr lang="en-US" sz="1400">
                <a:solidFill>
                  <a:srgbClr val="000000"/>
                </a:solidFill>
                <a:latin typeface="Canva Sans"/>
                <a:ea typeface="Canva Sans"/>
                <a:cs typeface="Canva Sans"/>
                <a:sym typeface="Canva Sans"/>
              </a:rPr>
              <a:t>Enter source and destination stations</a:t>
            </a:r>
          </a:p>
          <a:p>
            <a:pPr marL="302261" lvl="1" indent="-151130" algn="l">
              <a:lnSpc>
                <a:spcPts val="1960"/>
              </a:lnSpc>
              <a:buAutoNum type="arabicPeriod"/>
            </a:pPr>
            <a:r>
              <a:rPr lang="en-US" sz="1400">
                <a:solidFill>
                  <a:srgbClr val="000000"/>
                </a:solidFill>
                <a:latin typeface="Canva Sans"/>
                <a:ea typeface="Canva Sans"/>
                <a:cs typeface="Canva Sans"/>
                <a:sym typeface="Canva Sans"/>
              </a:rPr>
              <a:t>Select travel date and search trains</a:t>
            </a:r>
          </a:p>
          <a:p>
            <a:pPr marL="302261" lvl="1" indent="-151130" algn="l">
              <a:lnSpc>
                <a:spcPts val="1960"/>
              </a:lnSpc>
              <a:buAutoNum type="arabicPeriod"/>
            </a:pPr>
            <a:r>
              <a:rPr lang="en-US" sz="1400">
                <a:solidFill>
                  <a:srgbClr val="000000"/>
                </a:solidFill>
                <a:latin typeface="Canva Sans"/>
                <a:ea typeface="Canva Sans"/>
                <a:cs typeface="Canva Sans"/>
                <a:sym typeface="Canva Sans"/>
              </a:rPr>
              <a:t>Apply AC and Available filters</a:t>
            </a:r>
          </a:p>
          <a:p>
            <a:pPr marL="302261" lvl="1" indent="-151130" algn="l">
              <a:lnSpc>
                <a:spcPts val="1960"/>
              </a:lnSpc>
              <a:buAutoNum type="arabicPeriod"/>
            </a:pPr>
            <a:r>
              <a:rPr lang="en-US" sz="1400">
                <a:solidFill>
                  <a:srgbClr val="000000"/>
                </a:solidFill>
                <a:latin typeface="Canva Sans"/>
                <a:ea typeface="Canva Sans"/>
                <a:cs typeface="Canva Sans"/>
                <a:sym typeface="Canva Sans"/>
              </a:rPr>
              <a:t>Select available train ticket</a:t>
            </a:r>
          </a:p>
          <a:p>
            <a:pPr marL="302261" lvl="1" indent="-151130" algn="l">
              <a:lnSpc>
                <a:spcPts val="1960"/>
              </a:lnSpc>
              <a:buAutoNum type="arabicPeriod"/>
            </a:pPr>
            <a:r>
              <a:rPr lang="en-US" sz="1400">
                <a:solidFill>
                  <a:srgbClr val="000000"/>
                </a:solidFill>
                <a:latin typeface="Canva Sans"/>
                <a:ea typeface="Canva Sans"/>
                <a:cs typeface="Canva Sans"/>
                <a:sym typeface="Canva Sans"/>
              </a:rPr>
              <a:t>Open add traveller modal and enter passenger details</a:t>
            </a:r>
          </a:p>
          <a:p>
            <a:pPr marL="302261" lvl="1" indent="-151130" algn="l">
              <a:lnSpc>
                <a:spcPts val="1960"/>
              </a:lnSpc>
              <a:buAutoNum type="arabicPeriod"/>
            </a:pPr>
            <a:r>
              <a:rPr lang="en-US" sz="1400">
                <a:solidFill>
                  <a:srgbClr val="000000"/>
                </a:solidFill>
                <a:latin typeface="Canva Sans"/>
                <a:ea typeface="Canva Sans"/>
                <a:cs typeface="Canva Sans"/>
                <a:sym typeface="Canva Sans"/>
              </a:rPr>
              <a:t>Enter IRCTC username and contact details</a:t>
            </a:r>
          </a:p>
          <a:p>
            <a:pPr marL="302261" lvl="1" indent="-151130" algn="l">
              <a:lnSpc>
                <a:spcPts val="1960"/>
              </a:lnSpc>
              <a:buAutoNum type="arabicPeriod"/>
            </a:pPr>
            <a:r>
              <a:rPr lang="en-US" sz="1400">
                <a:solidFill>
                  <a:srgbClr val="000000"/>
                </a:solidFill>
                <a:latin typeface="Canva Sans"/>
                <a:ea typeface="Canva Sans"/>
                <a:cs typeface="Canva Sans"/>
                <a:sym typeface="Canva Sans"/>
              </a:rPr>
              <a:t>Accept terms and proceed to payment</a:t>
            </a:r>
          </a:p>
          <a:p>
            <a:pPr marL="302261" lvl="1" indent="-151130" algn="l">
              <a:lnSpc>
                <a:spcPts val="1960"/>
              </a:lnSpc>
              <a:buAutoNum type="arabicPeriod"/>
            </a:pPr>
            <a:r>
              <a:rPr lang="en-US" sz="1400">
                <a:solidFill>
                  <a:srgbClr val="000000"/>
                </a:solidFill>
                <a:latin typeface="Canva Sans"/>
                <a:ea typeface="Canva Sans"/>
                <a:cs typeface="Canva Sans"/>
                <a:sym typeface="Canva Sans"/>
              </a:rPr>
              <a:t>Select credit card option and enter details</a:t>
            </a:r>
          </a:p>
          <a:p>
            <a:pPr marL="302261" lvl="1" indent="-151130" algn="l">
              <a:lnSpc>
                <a:spcPts val="1960"/>
              </a:lnSpc>
              <a:buAutoNum type="arabicPeriod"/>
            </a:pPr>
            <a:r>
              <a:rPr lang="en-US" sz="1400">
                <a:solidFill>
                  <a:srgbClr val="000000"/>
                </a:solidFill>
                <a:latin typeface="Canva Sans"/>
                <a:ea typeface="Canva Sans"/>
                <a:cs typeface="Canva Sans"/>
                <a:sym typeface="Canva Sans"/>
              </a:rPr>
              <a:t>Close the browser</a:t>
            </a:r>
          </a:p>
        </p:txBody>
      </p:sp>
      <p:sp>
        <p:nvSpPr>
          <p:cNvPr id="10" name="TextBox 10"/>
          <p:cNvSpPr txBox="1"/>
          <p:nvPr/>
        </p:nvSpPr>
        <p:spPr>
          <a:xfrm>
            <a:off x="4346246" y="3629025"/>
            <a:ext cx="3769740" cy="983615"/>
          </a:xfrm>
          <a:prstGeom prst="rect">
            <a:avLst/>
          </a:prstGeom>
        </p:spPr>
        <p:txBody>
          <a:bodyPr lIns="0" tIns="0" rIns="0" bIns="0" rtlCol="0" anchor="t">
            <a:spAutoFit/>
          </a:bodyPr>
          <a:lstStyle/>
          <a:p>
            <a:pPr marL="302261" lvl="1" indent="-151130" algn="l">
              <a:lnSpc>
                <a:spcPts val="1960"/>
              </a:lnSpc>
              <a:buFont typeface="Arial"/>
              <a:buChar char="•"/>
            </a:pPr>
            <a:r>
              <a:rPr lang="en-US" sz="1400">
                <a:solidFill>
                  <a:srgbClr val="000000"/>
                </a:solidFill>
                <a:latin typeface="Canva Sans"/>
                <a:ea typeface="Canva Sans"/>
                <a:cs typeface="Canva Sans"/>
                <a:sym typeface="Canva Sans"/>
              </a:rPr>
              <a:t>Valid Source &amp; Destination Search</a:t>
            </a:r>
          </a:p>
          <a:p>
            <a:pPr marL="302261" lvl="1" indent="-151130" algn="l">
              <a:lnSpc>
                <a:spcPts val="1960"/>
              </a:lnSpc>
              <a:buFont typeface="Arial"/>
              <a:buChar char="•"/>
            </a:pPr>
            <a:r>
              <a:rPr lang="en-US" sz="1400">
                <a:solidFill>
                  <a:srgbClr val="000000"/>
                </a:solidFill>
                <a:latin typeface="Canva Sans"/>
                <a:ea typeface="Canva Sans"/>
                <a:cs typeface="Canva Sans"/>
                <a:sym typeface="Canva Sans"/>
              </a:rPr>
              <a:t>Train Listing &amp; Availability Validation</a:t>
            </a:r>
          </a:p>
          <a:p>
            <a:pPr marL="302261" lvl="1" indent="-151130" algn="l">
              <a:lnSpc>
                <a:spcPts val="1960"/>
              </a:lnSpc>
              <a:buFont typeface="Arial"/>
              <a:buChar char="•"/>
            </a:pPr>
            <a:r>
              <a:rPr lang="en-US" sz="1400">
                <a:solidFill>
                  <a:srgbClr val="000000"/>
                </a:solidFill>
                <a:latin typeface="Canva Sans"/>
                <a:ea typeface="Canva Sans"/>
                <a:cs typeface="Canva Sans"/>
                <a:sym typeface="Canva Sans"/>
              </a:rPr>
              <a:t>AC and Available Filter Validation</a:t>
            </a:r>
          </a:p>
          <a:p>
            <a:pPr marL="302261" lvl="1" indent="-151130" algn="l">
              <a:lnSpc>
                <a:spcPts val="1960"/>
              </a:lnSpc>
              <a:buFont typeface="Arial"/>
              <a:buChar char="•"/>
            </a:pPr>
            <a:r>
              <a:rPr lang="en-US" sz="1400">
                <a:solidFill>
                  <a:srgbClr val="000000"/>
                </a:solidFill>
                <a:latin typeface="Canva Sans"/>
                <a:ea typeface="Canva Sans"/>
                <a:cs typeface="Canva Sans"/>
                <a:sym typeface="Canva Sans"/>
              </a:rPr>
              <a:t>Payment Page Navigation Validation</a:t>
            </a:r>
          </a:p>
        </p:txBody>
      </p:sp>
      <p:sp>
        <p:nvSpPr>
          <p:cNvPr id="11" name="TextBox 11"/>
          <p:cNvSpPr txBox="1"/>
          <p:nvPr/>
        </p:nvSpPr>
        <p:spPr>
          <a:xfrm>
            <a:off x="4453121" y="5416558"/>
            <a:ext cx="3860990" cy="735965"/>
          </a:xfrm>
          <a:prstGeom prst="rect">
            <a:avLst/>
          </a:prstGeom>
        </p:spPr>
        <p:txBody>
          <a:bodyPr lIns="0" tIns="0" rIns="0" bIns="0" rtlCol="0" anchor="t">
            <a:spAutoFit/>
          </a:bodyPr>
          <a:lstStyle/>
          <a:p>
            <a:pPr marL="302261" lvl="1" indent="-151130" algn="l">
              <a:lnSpc>
                <a:spcPts val="1960"/>
              </a:lnSpc>
              <a:buFont typeface="Arial"/>
              <a:buChar char="•"/>
            </a:pPr>
            <a:r>
              <a:rPr lang="en-US" sz="1400" dirty="0">
                <a:solidFill>
                  <a:srgbClr val="000000"/>
                </a:solidFill>
                <a:latin typeface="Canva Sans"/>
                <a:ea typeface="Canva Sans"/>
                <a:cs typeface="Canva Sans"/>
                <a:sym typeface="Canva Sans"/>
              </a:rPr>
              <a:t>Invalid Source and Valid Destination Search</a:t>
            </a:r>
          </a:p>
          <a:p>
            <a:pPr marL="302261" lvl="1" indent="-151130" algn="l">
              <a:lnSpc>
                <a:spcPts val="1960"/>
              </a:lnSpc>
              <a:buFont typeface="Arial"/>
              <a:buChar char="•"/>
            </a:pPr>
            <a:r>
              <a:rPr lang="en-US" sz="1400" dirty="0">
                <a:solidFill>
                  <a:srgbClr val="000000"/>
                </a:solidFill>
                <a:latin typeface="Canva Sans"/>
                <a:ea typeface="Canva Sans"/>
                <a:cs typeface="Canva Sans"/>
                <a:sym typeface="Canva Sans"/>
              </a:rPr>
              <a:t>Invalid Mobile Number Validation</a:t>
            </a:r>
          </a:p>
        </p:txBody>
      </p:sp>
      <p:sp>
        <p:nvSpPr>
          <p:cNvPr id="12" name="AutoShape 12"/>
          <p:cNvSpPr/>
          <p:nvPr/>
        </p:nvSpPr>
        <p:spPr>
          <a:xfrm>
            <a:off x="4068841" y="3177873"/>
            <a:ext cx="19050" cy="4010614"/>
          </a:xfrm>
          <a:prstGeom prst="line">
            <a:avLst/>
          </a:prstGeom>
          <a:ln w="38100" cap="flat">
            <a:solidFill>
              <a:srgbClr val="000000"/>
            </a:solidFill>
            <a:prstDash val="solid"/>
            <a:headEnd type="none" w="sm" len="sm"/>
            <a:tailEnd type="none" w="sm" len="sm"/>
          </a:ln>
        </p:spPr>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5400000">
            <a:off x="4374295" y="2104078"/>
            <a:ext cx="7483383" cy="3275227"/>
          </a:xfrm>
          <a:custGeom>
            <a:avLst/>
            <a:gdLst/>
            <a:ahLst/>
            <a:cxnLst/>
            <a:rect l="l" t="t" r="r" b="b"/>
            <a:pathLst>
              <a:path w="7483383" h="3275227">
                <a:moveTo>
                  <a:pt x="0" y="0"/>
                </a:moveTo>
                <a:lnTo>
                  <a:pt x="7483383" y="0"/>
                </a:lnTo>
                <a:lnTo>
                  <a:pt x="7483383" y="3275227"/>
                </a:lnTo>
                <a:lnTo>
                  <a:pt x="0" y="3275227"/>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3" name="Freeform 3"/>
          <p:cNvSpPr/>
          <p:nvPr/>
        </p:nvSpPr>
        <p:spPr>
          <a:xfrm>
            <a:off x="250794" y="169534"/>
            <a:ext cx="1068911" cy="1068911"/>
          </a:xfrm>
          <a:custGeom>
            <a:avLst/>
            <a:gdLst/>
            <a:ahLst/>
            <a:cxnLst/>
            <a:rect l="l" t="t" r="r" b="b"/>
            <a:pathLst>
              <a:path w="1068911" h="1068911">
                <a:moveTo>
                  <a:pt x="0" y="0"/>
                </a:moveTo>
                <a:lnTo>
                  <a:pt x="1068911" y="0"/>
                </a:lnTo>
                <a:lnTo>
                  <a:pt x="1068911" y="1068911"/>
                </a:lnTo>
                <a:lnTo>
                  <a:pt x="0" y="1068911"/>
                </a:lnTo>
                <a:lnTo>
                  <a:pt x="0" y="0"/>
                </a:lnTo>
                <a:close/>
              </a:path>
            </a:pathLst>
          </a:custGeom>
          <a:blipFill>
            <a:blip r:embed="rId3"/>
            <a:stretch>
              <a:fillRect/>
            </a:stretch>
          </a:blipFill>
        </p:spPr>
      </p:sp>
      <p:sp>
        <p:nvSpPr>
          <p:cNvPr id="4" name="TextBox 4"/>
          <p:cNvSpPr txBox="1"/>
          <p:nvPr/>
        </p:nvSpPr>
        <p:spPr>
          <a:xfrm>
            <a:off x="536838" y="533410"/>
            <a:ext cx="6753827" cy="2197735"/>
          </a:xfrm>
          <a:prstGeom prst="rect">
            <a:avLst/>
          </a:prstGeom>
        </p:spPr>
        <p:txBody>
          <a:bodyPr lIns="0" tIns="0" rIns="0" bIns="0" rtlCol="0" anchor="t">
            <a:spAutoFit/>
          </a:bodyPr>
          <a:lstStyle/>
          <a:p>
            <a:pPr algn="l">
              <a:lnSpc>
                <a:spcPts val="2239"/>
              </a:lnSpc>
            </a:pPr>
            <a:endParaRPr/>
          </a:p>
          <a:p>
            <a:pPr algn="l">
              <a:lnSpc>
                <a:spcPts val="2239"/>
              </a:lnSpc>
            </a:pPr>
            <a:endParaRPr/>
          </a:p>
          <a:p>
            <a:pPr algn="l">
              <a:lnSpc>
                <a:spcPts val="2239"/>
              </a:lnSpc>
            </a:pPr>
            <a:r>
              <a:rPr lang="en-US" sz="1599" b="1">
                <a:solidFill>
                  <a:srgbClr val="000000"/>
                </a:solidFill>
                <a:latin typeface="Canva Sans Bold"/>
                <a:ea typeface="Canva Sans Bold"/>
                <a:cs typeface="Canva Sans Bold"/>
                <a:sym typeface="Canva Sans Bold"/>
              </a:rPr>
              <a:t>Objective</a:t>
            </a:r>
            <a:r>
              <a:rPr lang="en-US" sz="1599">
                <a:solidFill>
                  <a:srgbClr val="000000"/>
                </a:solidFill>
                <a:latin typeface="Canva Sans"/>
                <a:ea typeface="Canva Sans"/>
                <a:cs typeface="Canva Sans"/>
                <a:sym typeface="Canva Sans"/>
              </a:rPr>
              <a:t>:The Hotel Module Automation Framework validates the complete hotel booking process of MakeMyTrip using Selenium with Python. It automates hotel search, guest details entry, hotel selection, and checkout validation. The framework uses POM architecture, Pytest execution, and CSV-based data-driven testing for multiple scenarios.</a:t>
            </a:r>
          </a:p>
        </p:txBody>
      </p:sp>
      <p:sp>
        <p:nvSpPr>
          <p:cNvPr id="5" name="TextBox 5"/>
          <p:cNvSpPr txBox="1"/>
          <p:nvPr/>
        </p:nvSpPr>
        <p:spPr>
          <a:xfrm>
            <a:off x="335979" y="3186757"/>
            <a:ext cx="3558723" cy="4131310"/>
          </a:xfrm>
          <a:prstGeom prst="rect">
            <a:avLst/>
          </a:prstGeom>
        </p:spPr>
        <p:txBody>
          <a:bodyPr lIns="0" tIns="0" rIns="0" bIns="0" rtlCol="0" anchor="t">
            <a:spAutoFit/>
          </a:bodyPr>
          <a:lstStyle/>
          <a:p>
            <a:pPr marL="345439" lvl="1" indent="-172720" algn="l">
              <a:lnSpc>
                <a:spcPts val="2239"/>
              </a:lnSpc>
              <a:buAutoNum type="arabicPeriod"/>
            </a:pPr>
            <a:r>
              <a:rPr lang="en-US" sz="1599">
                <a:solidFill>
                  <a:srgbClr val="000000"/>
                </a:solidFill>
                <a:latin typeface="Canva Sans"/>
                <a:ea typeface="Canva Sans"/>
                <a:cs typeface="Canva Sans"/>
                <a:sym typeface="Canva Sans"/>
              </a:rPr>
              <a:t>Launch MakeMyTrip application</a:t>
            </a:r>
          </a:p>
          <a:p>
            <a:pPr marL="345439" lvl="1" indent="-172720" algn="l">
              <a:lnSpc>
                <a:spcPts val="2239"/>
              </a:lnSpc>
              <a:buAutoNum type="arabicPeriod"/>
            </a:pPr>
            <a:r>
              <a:rPr lang="en-US" sz="1599">
                <a:solidFill>
                  <a:srgbClr val="000000"/>
                </a:solidFill>
                <a:latin typeface="Canva Sans"/>
                <a:ea typeface="Canva Sans"/>
                <a:cs typeface="Canva Sans"/>
                <a:sym typeface="Canva Sans"/>
              </a:rPr>
              <a:t>Handle Login popup</a:t>
            </a:r>
          </a:p>
          <a:p>
            <a:pPr marL="345439" lvl="1" indent="-172720" algn="l">
              <a:lnSpc>
                <a:spcPts val="2239"/>
              </a:lnSpc>
              <a:buAutoNum type="arabicPeriod"/>
            </a:pPr>
            <a:r>
              <a:rPr lang="en-US" sz="1599">
                <a:solidFill>
                  <a:srgbClr val="000000"/>
                </a:solidFill>
                <a:latin typeface="Canva Sans"/>
                <a:ea typeface="Canva Sans"/>
                <a:cs typeface="Canva Sans"/>
                <a:sym typeface="Canva Sans"/>
              </a:rPr>
              <a:t>Navigate to Hotel module</a:t>
            </a:r>
          </a:p>
          <a:p>
            <a:pPr marL="345439" lvl="1" indent="-172720" algn="l">
              <a:lnSpc>
                <a:spcPts val="2239"/>
              </a:lnSpc>
              <a:buAutoNum type="arabicPeriod"/>
            </a:pPr>
            <a:r>
              <a:rPr lang="en-US" sz="1599">
                <a:solidFill>
                  <a:srgbClr val="000000"/>
                </a:solidFill>
                <a:latin typeface="Canva Sans"/>
                <a:ea typeface="Canva Sans"/>
                <a:cs typeface="Canva Sans"/>
                <a:sym typeface="Canva Sans"/>
              </a:rPr>
              <a:t>Enter Destination or City</a:t>
            </a:r>
          </a:p>
          <a:p>
            <a:pPr marL="345439" lvl="1" indent="-172720" algn="l">
              <a:lnSpc>
                <a:spcPts val="2239"/>
              </a:lnSpc>
              <a:buAutoNum type="arabicPeriod"/>
            </a:pPr>
            <a:r>
              <a:rPr lang="en-US" sz="1599">
                <a:solidFill>
                  <a:srgbClr val="000000"/>
                </a:solidFill>
                <a:latin typeface="Canva Sans"/>
                <a:ea typeface="Canva Sans"/>
                <a:cs typeface="Canva Sans"/>
                <a:sym typeface="Canva Sans"/>
              </a:rPr>
              <a:t>Enter Stay dates </a:t>
            </a:r>
          </a:p>
          <a:p>
            <a:pPr marL="345439" lvl="1" indent="-172720" algn="l">
              <a:lnSpc>
                <a:spcPts val="2239"/>
              </a:lnSpc>
              <a:buAutoNum type="arabicPeriod"/>
            </a:pPr>
            <a:r>
              <a:rPr lang="en-US" sz="1599">
                <a:solidFill>
                  <a:srgbClr val="000000"/>
                </a:solidFill>
                <a:latin typeface="Canva Sans"/>
                <a:ea typeface="Canva Sans"/>
                <a:cs typeface="Canva Sans"/>
                <a:sym typeface="Canva Sans"/>
              </a:rPr>
              <a:t>Add Rooms &amp; Guests</a:t>
            </a:r>
          </a:p>
          <a:p>
            <a:pPr marL="345439" lvl="1" indent="-172720" algn="l">
              <a:lnSpc>
                <a:spcPts val="2239"/>
              </a:lnSpc>
              <a:buAutoNum type="arabicPeriod"/>
            </a:pPr>
            <a:r>
              <a:rPr lang="en-US" sz="1599">
                <a:solidFill>
                  <a:srgbClr val="000000"/>
                </a:solidFill>
                <a:latin typeface="Canva Sans"/>
                <a:ea typeface="Canva Sans"/>
                <a:cs typeface="Canva Sans"/>
                <a:sym typeface="Canva Sans"/>
              </a:rPr>
              <a:t> Click on Search Parameter</a:t>
            </a:r>
          </a:p>
          <a:p>
            <a:pPr marL="345439" lvl="1" indent="-172720" algn="l">
              <a:lnSpc>
                <a:spcPts val="2239"/>
              </a:lnSpc>
              <a:buAutoNum type="arabicPeriod"/>
            </a:pPr>
            <a:r>
              <a:rPr lang="en-US" sz="1599">
                <a:solidFill>
                  <a:srgbClr val="000000"/>
                </a:solidFill>
                <a:latin typeface="Canva Sans"/>
                <a:ea typeface="Canva Sans"/>
                <a:cs typeface="Canva Sans"/>
                <a:sym typeface="Canva Sans"/>
              </a:rPr>
              <a:t>Apply 5-Star Filter</a:t>
            </a:r>
          </a:p>
          <a:p>
            <a:pPr marL="345439" lvl="1" indent="-172720" algn="l">
              <a:lnSpc>
                <a:spcPts val="2239"/>
              </a:lnSpc>
              <a:buAutoNum type="arabicPeriod"/>
            </a:pPr>
            <a:r>
              <a:rPr lang="en-US" sz="1599">
                <a:solidFill>
                  <a:srgbClr val="000000"/>
                </a:solidFill>
                <a:latin typeface="Canva Sans"/>
                <a:ea typeface="Canva Sans"/>
                <a:cs typeface="Canva Sans"/>
                <a:sym typeface="Canva Sans"/>
              </a:rPr>
              <a:t>Selects First Hotel From Hotel Listings</a:t>
            </a:r>
          </a:p>
          <a:p>
            <a:pPr marL="345439" lvl="1" indent="-172720" algn="l">
              <a:lnSpc>
                <a:spcPts val="2239"/>
              </a:lnSpc>
              <a:buAutoNum type="arabicPeriod"/>
            </a:pPr>
            <a:r>
              <a:rPr lang="en-US" sz="1599">
                <a:solidFill>
                  <a:srgbClr val="000000"/>
                </a:solidFill>
                <a:latin typeface="Canva Sans"/>
                <a:ea typeface="Canva Sans"/>
                <a:cs typeface="Canva Sans"/>
                <a:sym typeface="Canva Sans"/>
              </a:rPr>
              <a:t>Clicks On Book This Now</a:t>
            </a:r>
          </a:p>
          <a:p>
            <a:pPr marL="345439" lvl="1" indent="-172720" algn="l">
              <a:lnSpc>
                <a:spcPts val="2239"/>
              </a:lnSpc>
              <a:buAutoNum type="arabicPeriod"/>
            </a:pPr>
            <a:r>
              <a:rPr lang="en-US" sz="1599">
                <a:solidFill>
                  <a:srgbClr val="000000"/>
                </a:solidFill>
                <a:latin typeface="Canva Sans"/>
                <a:ea typeface="Canva Sans"/>
                <a:cs typeface="Canva Sans"/>
                <a:sym typeface="Canva Sans"/>
              </a:rPr>
              <a:t>Add Guest Details</a:t>
            </a:r>
          </a:p>
          <a:p>
            <a:pPr marL="345439" lvl="1" indent="-172720" algn="l">
              <a:lnSpc>
                <a:spcPts val="2239"/>
              </a:lnSpc>
              <a:buAutoNum type="arabicPeriod"/>
            </a:pPr>
            <a:r>
              <a:rPr lang="en-US" sz="1599">
                <a:solidFill>
                  <a:srgbClr val="000000"/>
                </a:solidFill>
                <a:latin typeface="Canva Sans"/>
                <a:ea typeface="Canva Sans"/>
                <a:cs typeface="Canva Sans"/>
                <a:sym typeface="Canva Sans"/>
              </a:rPr>
              <a:t>Selects Secure Trip Option</a:t>
            </a:r>
          </a:p>
          <a:p>
            <a:pPr marL="345439" lvl="1" indent="-172720" algn="l">
              <a:lnSpc>
                <a:spcPts val="2239"/>
              </a:lnSpc>
              <a:buAutoNum type="arabicPeriod"/>
            </a:pPr>
            <a:r>
              <a:rPr lang="en-US" sz="1599">
                <a:solidFill>
                  <a:srgbClr val="000000"/>
                </a:solidFill>
                <a:latin typeface="Canva Sans"/>
                <a:ea typeface="Canva Sans"/>
                <a:cs typeface="Canva Sans"/>
                <a:sym typeface="Canva Sans"/>
              </a:rPr>
              <a:t>Click On Pay Now</a:t>
            </a:r>
          </a:p>
          <a:p>
            <a:pPr algn="l">
              <a:lnSpc>
                <a:spcPts val="2239"/>
              </a:lnSpc>
            </a:pPr>
            <a:endParaRPr lang="en-US" sz="1599">
              <a:solidFill>
                <a:srgbClr val="000000"/>
              </a:solidFill>
              <a:latin typeface="Canva Sans"/>
              <a:ea typeface="Canva Sans"/>
              <a:cs typeface="Canva Sans"/>
              <a:sym typeface="Canva Sans"/>
            </a:endParaRPr>
          </a:p>
        </p:txBody>
      </p:sp>
      <p:sp>
        <p:nvSpPr>
          <p:cNvPr id="6" name="AutoShape 6"/>
          <p:cNvSpPr/>
          <p:nvPr/>
        </p:nvSpPr>
        <p:spPr>
          <a:xfrm>
            <a:off x="3894702" y="2753626"/>
            <a:ext cx="0" cy="4150295"/>
          </a:xfrm>
          <a:prstGeom prst="line">
            <a:avLst/>
          </a:prstGeom>
          <a:ln w="38100" cap="flat">
            <a:solidFill>
              <a:srgbClr val="000000"/>
            </a:solidFill>
            <a:prstDash val="solid"/>
            <a:headEnd type="none" w="sm" len="sm"/>
            <a:tailEnd type="none" w="sm" len="sm"/>
          </a:ln>
        </p:spPr>
      </p:sp>
      <p:sp>
        <p:nvSpPr>
          <p:cNvPr id="7" name="TextBox 7"/>
          <p:cNvSpPr txBox="1"/>
          <p:nvPr/>
        </p:nvSpPr>
        <p:spPr>
          <a:xfrm>
            <a:off x="4554949" y="2729161"/>
            <a:ext cx="2951411" cy="335541"/>
          </a:xfrm>
          <a:prstGeom prst="rect">
            <a:avLst/>
          </a:prstGeom>
        </p:spPr>
        <p:txBody>
          <a:bodyPr wrap="square" lIns="0" tIns="0" rIns="0" bIns="0" rtlCol="0" anchor="t">
            <a:spAutoFit/>
          </a:bodyPr>
          <a:lstStyle/>
          <a:p>
            <a:pPr algn="ctr">
              <a:lnSpc>
                <a:spcPts val="2800"/>
              </a:lnSpc>
            </a:pPr>
            <a:r>
              <a:rPr lang="en-US" sz="2000" b="1" dirty="0">
                <a:solidFill>
                  <a:srgbClr val="000000"/>
                </a:solidFill>
                <a:latin typeface="Canva Sans Bold"/>
                <a:ea typeface="Canva Sans Bold"/>
                <a:cs typeface="Canva Sans Bold"/>
                <a:sym typeface="Canva Sans Bold"/>
              </a:rPr>
              <a:t>Positive Test Scenarios</a:t>
            </a:r>
          </a:p>
        </p:txBody>
      </p:sp>
      <p:sp>
        <p:nvSpPr>
          <p:cNvPr id="8" name="TextBox 8"/>
          <p:cNvSpPr txBox="1"/>
          <p:nvPr/>
        </p:nvSpPr>
        <p:spPr>
          <a:xfrm>
            <a:off x="4347397" y="3186757"/>
            <a:ext cx="3158964" cy="2197735"/>
          </a:xfrm>
          <a:prstGeom prst="rect">
            <a:avLst/>
          </a:prstGeom>
        </p:spPr>
        <p:txBody>
          <a:bodyPr lIns="0" tIns="0" rIns="0" bIns="0" rtlCol="0" anchor="t">
            <a:spAutoFit/>
          </a:bodyPr>
          <a:lstStyle/>
          <a:p>
            <a:pPr marL="345439" lvl="1" indent="-172720" algn="just">
              <a:lnSpc>
                <a:spcPts val="2239"/>
              </a:lnSpc>
              <a:buFont typeface="Arial"/>
              <a:buChar char="•"/>
            </a:pPr>
            <a:r>
              <a:rPr lang="en-US" sz="1599" dirty="0">
                <a:solidFill>
                  <a:srgbClr val="000000"/>
                </a:solidFill>
                <a:latin typeface="Canva Sans"/>
                <a:ea typeface="Canva Sans"/>
                <a:cs typeface="Canva Sans"/>
                <a:sym typeface="Canva Sans"/>
              </a:rPr>
              <a:t>Guest Details Validation From Csv Data</a:t>
            </a:r>
          </a:p>
          <a:p>
            <a:pPr marL="345439" lvl="1" indent="-172720" algn="just">
              <a:lnSpc>
                <a:spcPts val="2239"/>
              </a:lnSpc>
              <a:buFont typeface="Arial"/>
              <a:buChar char="•"/>
            </a:pPr>
            <a:r>
              <a:rPr lang="en-US" sz="1599" dirty="0">
                <a:solidFill>
                  <a:srgbClr val="000000"/>
                </a:solidFill>
                <a:latin typeface="Canva Sans"/>
                <a:ea typeface="Canva Sans"/>
                <a:cs typeface="Canva Sans"/>
                <a:sym typeface="Canva Sans"/>
              </a:rPr>
              <a:t>Dynamic City Selection</a:t>
            </a:r>
          </a:p>
          <a:p>
            <a:pPr marL="345439" lvl="1" indent="-172720" algn="just">
              <a:lnSpc>
                <a:spcPts val="2239"/>
              </a:lnSpc>
              <a:buFont typeface="Arial"/>
              <a:buChar char="•"/>
            </a:pPr>
            <a:r>
              <a:rPr lang="en-US" sz="1599" dirty="0">
                <a:solidFill>
                  <a:srgbClr val="000000"/>
                </a:solidFill>
                <a:latin typeface="Canva Sans"/>
                <a:ea typeface="Canva Sans"/>
                <a:cs typeface="Canva Sans"/>
                <a:sym typeface="Canva Sans"/>
              </a:rPr>
              <a:t>Entering Correct Pan-Number</a:t>
            </a:r>
          </a:p>
          <a:p>
            <a:pPr marL="345439" lvl="1" indent="-172720" algn="just">
              <a:lnSpc>
                <a:spcPts val="2239"/>
              </a:lnSpc>
              <a:buFont typeface="Arial"/>
              <a:buChar char="•"/>
            </a:pPr>
            <a:r>
              <a:rPr lang="en-US" sz="1599" dirty="0">
                <a:solidFill>
                  <a:srgbClr val="000000"/>
                </a:solidFill>
                <a:latin typeface="Canva Sans"/>
                <a:ea typeface="Canva Sans"/>
                <a:cs typeface="Canva Sans"/>
                <a:sym typeface="Canva Sans"/>
              </a:rPr>
              <a:t>Applying 5-Star Filter</a:t>
            </a:r>
          </a:p>
          <a:p>
            <a:pPr algn="just">
              <a:lnSpc>
                <a:spcPts val="2239"/>
              </a:lnSpc>
            </a:pPr>
            <a:endParaRPr lang="en-US" sz="1599" dirty="0">
              <a:solidFill>
                <a:srgbClr val="000000"/>
              </a:solidFill>
              <a:latin typeface="Canva Sans"/>
              <a:ea typeface="Canva Sans"/>
              <a:cs typeface="Canva Sans"/>
              <a:sym typeface="Canva Sans"/>
            </a:endParaRPr>
          </a:p>
          <a:p>
            <a:pPr algn="just">
              <a:lnSpc>
                <a:spcPts val="2239"/>
              </a:lnSpc>
            </a:pPr>
            <a:endParaRPr lang="en-US" sz="1599" dirty="0">
              <a:solidFill>
                <a:srgbClr val="000000"/>
              </a:solidFill>
              <a:latin typeface="Canva Sans"/>
              <a:ea typeface="Canva Sans"/>
              <a:cs typeface="Canva Sans"/>
              <a:sym typeface="Canva Sans"/>
            </a:endParaRPr>
          </a:p>
        </p:txBody>
      </p:sp>
      <p:sp>
        <p:nvSpPr>
          <p:cNvPr id="9" name="TextBox 9"/>
          <p:cNvSpPr txBox="1"/>
          <p:nvPr/>
        </p:nvSpPr>
        <p:spPr>
          <a:xfrm>
            <a:off x="4546563" y="4964161"/>
            <a:ext cx="3158964" cy="701674"/>
          </a:xfrm>
          <a:prstGeom prst="rect">
            <a:avLst/>
          </a:prstGeom>
        </p:spPr>
        <p:txBody>
          <a:bodyPr wrap="square" lIns="0" tIns="0" rIns="0" bIns="0" rtlCol="0" anchor="t">
            <a:spAutoFit/>
          </a:bodyPr>
          <a:lstStyle/>
          <a:p>
            <a:pPr algn="ctr">
              <a:lnSpc>
                <a:spcPts val="2800"/>
              </a:lnSpc>
            </a:pPr>
            <a:r>
              <a:rPr lang="en-US" sz="2000" b="1" dirty="0">
                <a:solidFill>
                  <a:srgbClr val="000000"/>
                </a:solidFill>
                <a:latin typeface="Canva Sans Bold"/>
                <a:ea typeface="Canva Sans Bold"/>
                <a:cs typeface="Canva Sans Bold"/>
                <a:sym typeface="Canva Sans Bold"/>
              </a:rPr>
              <a:t>Negative Test Scenarios</a:t>
            </a:r>
          </a:p>
          <a:p>
            <a:pPr algn="ctr">
              <a:lnSpc>
                <a:spcPts val="2800"/>
              </a:lnSpc>
            </a:pPr>
            <a:endParaRPr lang="en-US" sz="2000" b="1" dirty="0">
              <a:solidFill>
                <a:srgbClr val="000000"/>
              </a:solidFill>
              <a:latin typeface="Canva Sans Bold"/>
              <a:ea typeface="Canva Sans Bold"/>
              <a:cs typeface="Canva Sans Bold"/>
              <a:sym typeface="Canva Sans Bold"/>
            </a:endParaRPr>
          </a:p>
        </p:txBody>
      </p:sp>
      <p:sp>
        <p:nvSpPr>
          <p:cNvPr id="10" name="TextBox 10"/>
          <p:cNvSpPr txBox="1"/>
          <p:nvPr/>
        </p:nvSpPr>
        <p:spPr>
          <a:xfrm>
            <a:off x="4546563" y="5506547"/>
            <a:ext cx="3349745" cy="1092835"/>
          </a:xfrm>
          <a:prstGeom prst="rect">
            <a:avLst/>
          </a:prstGeom>
        </p:spPr>
        <p:txBody>
          <a:bodyPr lIns="0" tIns="0" rIns="0" bIns="0" rtlCol="0" anchor="t">
            <a:spAutoFit/>
          </a:bodyPr>
          <a:lstStyle/>
          <a:p>
            <a:pPr marL="345439" lvl="1" indent="-172720" algn="l">
              <a:lnSpc>
                <a:spcPts val="2239"/>
              </a:lnSpc>
              <a:buFont typeface="Arial"/>
              <a:buChar char="•"/>
            </a:pPr>
            <a:r>
              <a:rPr lang="en-US" sz="1599" dirty="0">
                <a:solidFill>
                  <a:srgbClr val="000000"/>
                </a:solidFill>
                <a:latin typeface="Canva Sans"/>
                <a:ea typeface="Canva Sans"/>
                <a:cs typeface="Canva Sans"/>
                <a:sym typeface="Canva Sans"/>
              </a:rPr>
              <a:t>Invalid PAN Card Format Validation</a:t>
            </a:r>
          </a:p>
          <a:p>
            <a:pPr marL="345439" lvl="1" indent="-172720" algn="l">
              <a:lnSpc>
                <a:spcPts val="2239"/>
              </a:lnSpc>
              <a:buFont typeface="Arial"/>
              <a:buChar char="•"/>
            </a:pPr>
            <a:r>
              <a:rPr lang="en-US" sz="1599" dirty="0">
                <a:solidFill>
                  <a:srgbClr val="000000"/>
                </a:solidFill>
                <a:latin typeface="Canva Sans"/>
                <a:ea typeface="Canva Sans"/>
                <a:cs typeface="Canva Sans"/>
                <a:sym typeface="Canva Sans"/>
              </a:rPr>
              <a:t>Empty First Name</a:t>
            </a:r>
          </a:p>
          <a:p>
            <a:pPr algn="l">
              <a:lnSpc>
                <a:spcPts val="2239"/>
              </a:lnSpc>
            </a:pPr>
            <a:endParaRPr lang="en-US" sz="1599" dirty="0">
              <a:solidFill>
                <a:srgbClr val="000000"/>
              </a:solidFill>
              <a:latin typeface="Canva Sans"/>
              <a:ea typeface="Canva Sans"/>
              <a:cs typeface="Canva Sans"/>
              <a:sym typeface="Canva Sans"/>
            </a:endParaRPr>
          </a:p>
        </p:txBody>
      </p:sp>
      <p:sp>
        <p:nvSpPr>
          <p:cNvPr id="11" name="TextBox 11"/>
          <p:cNvSpPr txBox="1"/>
          <p:nvPr/>
        </p:nvSpPr>
        <p:spPr>
          <a:xfrm>
            <a:off x="2396816" y="451260"/>
            <a:ext cx="3775384" cy="448310"/>
          </a:xfrm>
          <a:prstGeom prst="rect">
            <a:avLst/>
          </a:prstGeom>
        </p:spPr>
        <p:txBody>
          <a:bodyPr wrap="square" lIns="0" tIns="0" rIns="0" bIns="0" rtlCol="0" anchor="t">
            <a:spAutoFit/>
          </a:bodyPr>
          <a:lstStyle/>
          <a:p>
            <a:pPr algn="ctr">
              <a:lnSpc>
                <a:spcPts val="3639"/>
              </a:lnSpc>
              <a:spcBef>
                <a:spcPct val="0"/>
              </a:spcBef>
            </a:pPr>
            <a:r>
              <a:rPr lang="en-US" sz="2599" b="1" dirty="0">
                <a:solidFill>
                  <a:srgbClr val="000000"/>
                </a:solidFill>
                <a:latin typeface="Canva Sans Bold"/>
                <a:ea typeface="Canva Sans Bold"/>
                <a:cs typeface="Canva Sans Bold"/>
                <a:sym typeface="Canva Sans Bold"/>
              </a:rPr>
              <a:t>Module Name: Hotels</a:t>
            </a:r>
          </a:p>
        </p:txBody>
      </p:sp>
      <p:sp>
        <p:nvSpPr>
          <p:cNvPr id="12" name="TextBox 12"/>
          <p:cNvSpPr txBox="1"/>
          <p:nvPr/>
        </p:nvSpPr>
        <p:spPr>
          <a:xfrm>
            <a:off x="536838" y="2774801"/>
            <a:ext cx="2587362" cy="335541"/>
          </a:xfrm>
          <a:prstGeom prst="rect">
            <a:avLst/>
          </a:prstGeom>
        </p:spPr>
        <p:txBody>
          <a:bodyPr wrap="square" lIns="0" tIns="0" rIns="0" bIns="0" rtlCol="0" anchor="t">
            <a:spAutoFit/>
          </a:bodyPr>
          <a:lstStyle/>
          <a:p>
            <a:pPr algn="ctr">
              <a:lnSpc>
                <a:spcPts val="2800"/>
              </a:lnSpc>
              <a:spcBef>
                <a:spcPct val="0"/>
              </a:spcBef>
            </a:pPr>
            <a:r>
              <a:rPr lang="en-US" sz="2000" b="1" dirty="0">
                <a:solidFill>
                  <a:srgbClr val="000000"/>
                </a:solidFill>
                <a:latin typeface="Canva Sans Bold"/>
                <a:ea typeface="Canva Sans Bold"/>
                <a:cs typeface="Canva Sans Bold"/>
                <a:sym typeface="Canva Sans Bold"/>
              </a:rPr>
              <a:t>Flow of End to End</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5400000">
            <a:off x="4850640" y="2104078"/>
            <a:ext cx="7483383" cy="3275227"/>
          </a:xfrm>
          <a:custGeom>
            <a:avLst/>
            <a:gdLst/>
            <a:ahLst/>
            <a:cxnLst/>
            <a:rect l="l" t="t" r="r" b="b"/>
            <a:pathLst>
              <a:path w="7483383" h="3275227">
                <a:moveTo>
                  <a:pt x="0" y="0"/>
                </a:moveTo>
                <a:lnTo>
                  <a:pt x="7483383" y="0"/>
                </a:lnTo>
                <a:lnTo>
                  <a:pt x="7483383" y="3275227"/>
                </a:lnTo>
                <a:lnTo>
                  <a:pt x="0" y="3275227"/>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3" name="Freeform 3"/>
          <p:cNvSpPr/>
          <p:nvPr/>
        </p:nvSpPr>
        <p:spPr>
          <a:xfrm>
            <a:off x="250794" y="169534"/>
            <a:ext cx="1068911" cy="1068911"/>
          </a:xfrm>
          <a:custGeom>
            <a:avLst/>
            <a:gdLst/>
            <a:ahLst/>
            <a:cxnLst/>
            <a:rect l="l" t="t" r="r" b="b"/>
            <a:pathLst>
              <a:path w="1068911" h="1068911">
                <a:moveTo>
                  <a:pt x="0" y="0"/>
                </a:moveTo>
                <a:lnTo>
                  <a:pt x="1068911" y="0"/>
                </a:lnTo>
                <a:lnTo>
                  <a:pt x="1068911" y="1068911"/>
                </a:lnTo>
                <a:lnTo>
                  <a:pt x="0" y="1068911"/>
                </a:lnTo>
                <a:lnTo>
                  <a:pt x="0" y="0"/>
                </a:lnTo>
                <a:close/>
              </a:path>
            </a:pathLst>
          </a:custGeom>
          <a:blipFill>
            <a:blip r:embed="rId3"/>
            <a:stretch>
              <a:fillRect/>
            </a:stretch>
          </a:blipFill>
        </p:spPr>
      </p:sp>
      <p:sp>
        <p:nvSpPr>
          <p:cNvPr id="4" name="TextBox 4"/>
          <p:cNvSpPr txBox="1"/>
          <p:nvPr/>
        </p:nvSpPr>
        <p:spPr>
          <a:xfrm>
            <a:off x="2413008" y="451260"/>
            <a:ext cx="3530592" cy="448310"/>
          </a:xfrm>
          <a:prstGeom prst="rect">
            <a:avLst/>
          </a:prstGeom>
        </p:spPr>
        <p:txBody>
          <a:bodyPr wrap="square" lIns="0" tIns="0" rIns="0" bIns="0" rtlCol="0" anchor="t">
            <a:spAutoFit/>
          </a:bodyPr>
          <a:lstStyle/>
          <a:p>
            <a:pPr algn="ctr">
              <a:lnSpc>
                <a:spcPts val="3639"/>
              </a:lnSpc>
              <a:spcBef>
                <a:spcPct val="0"/>
              </a:spcBef>
            </a:pPr>
            <a:r>
              <a:rPr lang="en-US" sz="2599" b="1" dirty="0">
                <a:solidFill>
                  <a:srgbClr val="000000"/>
                </a:solidFill>
                <a:latin typeface="Canva Sans Bold"/>
                <a:ea typeface="Canva Sans Bold"/>
                <a:cs typeface="Canva Sans Bold"/>
                <a:sym typeface="Canva Sans Bold"/>
              </a:rPr>
              <a:t>Module Name: Cruise</a:t>
            </a:r>
          </a:p>
        </p:txBody>
      </p:sp>
      <p:sp>
        <p:nvSpPr>
          <p:cNvPr id="5" name="TextBox 5"/>
          <p:cNvSpPr txBox="1"/>
          <p:nvPr/>
        </p:nvSpPr>
        <p:spPr>
          <a:xfrm>
            <a:off x="250794" y="1308735"/>
            <a:ext cx="7389705" cy="735965"/>
          </a:xfrm>
          <a:prstGeom prst="rect">
            <a:avLst/>
          </a:prstGeom>
        </p:spPr>
        <p:txBody>
          <a:bodyPr lIns="0" tIns="0" rIns="0" bIns="0" rtlCol="0" anchor="t">
            <a:spAutoFit/>
          </a:bodyPr>
          <a:lstStyle/>
          <a:p>
            <a:pPr algn="l">
              <a:lnSpc>
                <a:spcPts val="1960"/>
              </a:lnSpc>
              <a:spcBef>
                <a:spcPct val="0"/>
              </a:spcBef>
            </a:pPr>
            <a:r>
              <a:rPr lang="en-US" sz="1400">
                <a:solidFill>
                  <a:srgbClr val="000000"/>
                </a:solidFill>
                <a:latin typeface="Canva Sans"/>
                <a:ea typeface="Canva Sans"/>
                <a:cs typeface="Canva Sans"/>
                <a:sym typeface="Canva Sans"/>
              </a:rPr>
              <a:t>Objective: Streamline and verify the complete cruise booking journey and cross-domain transitions to mmt.odysol.com by deploying a Selenium and BDD-based automation framework.</a:t>
            </a:r>
          </a:p>
        </p:txBody>
      </p:sp>
      <p:sp>
        <p:nvSpPr>
          <p:cNvPr id="6" name="AutoShape 6"/>
          <p:cNvSpPr/>
          <p:nvPr/>
        </p:nvSpPr>
        <p:spPr>
          <a:xfrm>
            <a:off x="4326807" y="2392075"/>
            <a:ext cx="0" cy="4520406"/>
          </a:xfrm>
          <a:prstGeom prst="line">
            <a:avLst/>
          </a:prstGeom>
          <a:ln w="38100" cap="flat">
            <a:solidFill>
              <a:srgbClr val="000000"/>
            </a:solidFill>
            <a:prstDash val="solid"/>
            <a:headEnd type="none" w="sm" len="sm"/>
            <a:tailEnd type="none" w="sm" len="sm"/>
          </a:ln>
        </p:spPr>
      </p:sp>
      <p:sp>
        <p:nvSpPr>
          <p:cNvPr id="8" name="TextBox 8"/>
          <p:cNvSpPr txBox="1"/>
          <p:nvPr/>
        </p:nvSpPr>
        <p:spPr>
          <a:xfrm>
            <a:off x="4857345" y="2362471"/>
            <a:ext cx="2507973" cy="264160"/>
          </a:xfrm>
          <a:prstGeom prst="rect">
            <a:avLst/>
          </a:prstGeom>
        </p:spPr>
        <p:txBody>
          <a:bodyPr wrap="square" lIns="0" tIns="0" rIns="0" bIns="0" rtlCol="0" anchor="t">
            <a:spAutoFit/>
          </a:bodyPr>
          <a:lstStyle/>
          <a:p>
            <a:pPr algn="l">
              <a:lnSpc>
                <a:spcPts val="2240"/>
              </a:lnSpc>
              <a:spcBef>
                <a:spcPct val="0"/>
              </a:spcBef>
            </a:pPr>
            <a:r>
              <a:rPr lang="en-US" sz="1600" b="1" dirty="0">
                <a:solidFill>
                  <a:srgbClr val="000000"/>
                </a:solidFill>
                <a:latin typeface="Canva Sans Bold"/>
                <a:ea typeface="Canva Sans Bold"/>
                <a:cs typeface="Canva Sans Bold"/>
                <a:sym typeface="Canva Sans Bold"/>
              </a:rPr>
              <a:t>Positive Test Scenarios</a:t>
            </a:r>
          </a:p>
        </p:txBody>
      </p:sp>
      <p:sp>
        <p:nvSpPr>
          <p:cNvPr id="9" name="TextBox 9"/>
          <p:cNvSpPr txBox="1"/>
          <p:nvPr/>
        </p:nvSpPr>
        <p:spPr>
          <a:xfrm>
            <a:off x="4717985" y="4510582"/>
            <a:ext cx="2786691" cy="264160"/>
          </a:xfrm>
          <a:prstGeom prst="rect">
            <a:avLst/>
          </a:prstGeom>
        </p:spPr>
        <p:txBody>
          <a:bodyPr wrap="square" lIns="0" tIns="0" rIns="0" bIns="0" rtlCol="0" anchor="t">
            <a:spAutoFit/>
          </a:bodyPr>
          <a:lstStyle/>
          <a:p>
            <a:pPr algn="ctr">
              <a:lnSpc>
                <a:spcPts val="2239"/>
              </a:lnSpc>
              <a:spcBef>
                <a:spcPct val="0"/>
              </a:spcBef>
            </a:pPr>
            <a:r>
              <a:rPr lang="en-US" sz="1599" b="1" dirty="0">
                <a:solidFill>
                  <a:srgbClr val="000000"/>
                </a:solidFill>
                <a:latin typeface="Canva Sans Bold"/>
                <a:ea typeface="Canva Sans Bold"/>
                <a:cs typeface="Canva Sans Bold"/>
                <a:sym typeface="Canva Sans Bold"/>
              </a:rPr>
              <a:t>Negative Test Scenarios</a:t>
            </a:r>
          </a:p>
        </p:txBody>
      </p:sp>
      <p:sp>
        <p:nvSpPr>
          <p:cNvPr id="10" name="TextBox 10"/>
          <p:cNvSpPr txBox="1"/>
          <p:nvPr/>
        </p:nvSpPr>
        <p:spPr>
          <a:xfrm>
            <a:off x="4641016" y="5021419"/>
            <a:ext cx="3349745" cy="983615"/>
          </a:xfrm>
          <a:prstGeom prst="rect">
            <a:avLst/>
          </a:prstGeom>
        </p:spPr>
        <p:txBody>
          <a:bodyPr lIns="0" tIns="0" rIns="0" bIns="0" rtlCol="0" anchor="t">
            <a:spAutoFit/>
          </a:bodyPr>
          <a:lstStyle/>
          <a:p>
            <a:pPr marL="302259" lvl="1" indent="-151129" algn="l">
              <a:lnSpc>
                <a:spcPts val="1959"/>
              </a:lnSpc>
              <a:buFont typeface="Arial"/>
              <a:buChar char="•"/>
            </a:pPr>
            <a:r>
              <a:rPr lang="en-US" sz="1399" dirty="0">
                <a:solidFill>
                  <a:srgbClr val="000000"/>
                </a:solidFill>
                <a:latin typeface="Canva Sans"/>
                <a:ea typeface="Canva Sans"/>
                <a:cs typeface="Canva Sans"/>
                <a:sym typeface="Canva Sans"/>
              </a:rPr>
              <a:t>Invalid PAN Card Format Validation</a:t>
            </a:r>
          </a:p>
          <a:p>
            <a:pPr marL="302259" lvl="1" indent="-151129" algn="l">
              <a:lnSpc>
                <a:spcPts val="1959"/>
              </a:lnSpc>
              <a:buFont typeface="Arial"/>
              <a:buChar char="•"/>
            </a:pPr>
            <a:r>
              <a:rPr lang="en-US" sz="1399" dirty="0">
                <a:solidFill>
                  <a:srgbClr val="000000"/>
                </a:solidFill>
                <a:latin typeface="Canva Sans"/>
                <a:ea typeface="Canva Sans"/>
                <a:cs typeface="Canva Sans"/>
                <a:sym typeface="Canva Sans"/>
              </a:rPr>
              <a:t>Required Field Validation (First Name Omitted)</a:t>
            </a:r>
          </a:p>
          <a:p>
            <a:pPr algn="l">
              <a:lnSpc>
                <a:spcPts val="1959"/>
              </a:lnSpc>
            </a:pPr>
            <a:endParaRPr lang="en-US" sz="1399" dirty="0">
              <a:solidFill>
                <a:srgbClr val="000000"/>
              </a:solidFill>
              <a:latin typeface="Canva Sans"/>
              <a:ea typeface="Canva Sans"/>
              <a:cs typeface="Canva Sans"/>
              <a:sym typeface="Canva Sans"/>
            </a:endParaRPr>
          </a:p>
        </p:txBody>
      </p:sp>
      <p:sp>
        <p:nvSpPr>
          <p:cNvPr id="11" name="TextBox 11"/>
          <p:cNvSpPr txBox="1"/>
          <p:nvPr/>
        </p:nvSpPr>
        <p:spPr>
          <a:xfrm>
            <a:off x="4623177" y="2679991"/>
            <a:ext cx="3790726" cy="1478915"/>
          </a:xfrm>
          <a:prstGeom prst="rect">
            <a:avLst/>
          </a:prstGeom>
        </p:spPr>
        <p:txBody>
          <a:bodyPr lIns="0" tIns="0" rIns="0" bIns="0" rtlCol="0" anchor="t">
            <a:spAutoFit/>
          </a:bodyPr>
          <a:lstStyle/>
          <a:p>
            <a:pPr marL="302261" lvl="1" indent="-151130" algn="just">
              <a:lnSpc>
                <a:spcPts val="1960"/>
              </a:lnSpc>
              <a:buFont typeface="Arial"/>
              <a:buChar char="•"/>
            </a:pPr>
            <a:r>
              <a:rPr lang="en-US" sz="1400" dirty="0">
                <a:solidFill>
                  <a:srgbClr val="000000"/>
                </a:solidFill>
                <a:latin typeface="Canva Sans"/>
                <a:ea typeface="Canva Sans"/>
                <a:cs typeface="Canva Sans"/>
                <a:sym typeface="Canva Sans"/>
              </a:rPr>
              <a:t>Integration Flow (E2E)</a:t>
            </a:r>
          </a:p>
          <a:p>
            <a:pPr marL="302261" lvl="1" indent="-151130" algn="just">
              <a:lnSpc>
                <a:spcPts val="1960"/>
              </a:lnSpc>
              <a:buFont typeface="Arial"/>
              <a:buChar char="•"/>
            </a:pPr>
            <a:r>
              <a:rPr lang="en-US" sz="1400" dirty="0">
                <a:solidFill>
                  <a:srgbClr val="000000"/>
                </a:solidFill>
                <a:latin typeface="Canva Sans"/>
                <a:ea typeface="Canva Sans"/>
                <a:cs typeface="Canva Sans"/>
                <a:sym typeface="Canva Sans"/>
              </a:rPr>
              <a:t>Lowercase PAN ID Auto-Sanitization</a:t>
            </a:r>
          </a:p>
          <a:p>
            <a:pPr marL="302261" lvl="1" indent="-151130" algn="just">
              <a:lnSpc>
                <a:spcPts val="1960"/>
              </a:lnSpc>
              <a:buFont typeface="Arial"/>
              <a:buChar char="•"/>
            </a:pPr>
            <a:r>
              <a:rPr lang="en-US" sz="1400" dirty="0">
                <a:solidFill>
                  <a:srgbClr val="000000"/>
                </a:solidFill>
                <a:latin typeface="Canva Sans"/>
                <a:ea typeface="Canva Sans"/>
                <a:cs typeface="Canva Sans"/>
                <a:sym typeface="Canva Sans"/>
              </a:rPr>
              <a:t>Dynamic Sorting &amp; Selection by Departure Date</a:t>
            </a:r>
          </a:p>
          <a:p>
            <a:pPr marL="302261" lvl="1" indent="-151130" algn="just">
              <a:lnSpc>
                <a:spcPts val="1960"/>
              </a:lnSpc>
              <a:buFont typeface="Arial"/>
              <a:buChar char="•"/>
            </a:pPr>
            <a:r>
              <a:rPr lang="en-US" sz="1400" dirty="0">
                <a:solidFill>
                  <a:srgbClr val="000000"/>
                </a:solidFill>
                <a:latin typeface="Canva Sans"/>
                <a:ea typeface="Canva Sans"/>
                <a:cs typeface="Canva Sans"/>
                <a:sym typeface="Canva Sans"/>
              </a:rPr>
              <a:t>Financial Price Validation</a:t>
            </a:r>
          </a:p>
          <a:p>
            <a:pPr marL="302261" lvl="1" indent="-151130" algn="just">
              <a:lnSpc>
                <a:spcPts val="1960"/>
              </a:lnSpc>
              <a:buFont typeface="Arial"/>
              <a:buChar char="•"/>
            </a:pPr>
            <a:r>
              <a:rPr lang="en-US" sz="1400" dirty="0">
                <a:solidFill>
                  <a:srgbClr val="000000"/>
                </a:solidFill>
                <a:latin typeface="Canva Sans"/>
                <a:ea typeface="Canva Sans"/>
                <a:cs typeface="Canva Sans"/>
                <a:sym typeface="Canva Sans"/>
              </a:rPr>
              <a:t>UI Responsiveness &amp; Window Switching</a:t>
            </a:r>
          </a:p>
        </p:txBody>
      </p:sp>
      <p:sp>
        <p:nvSpPr>
          <p:cNvPr id="12" name="TextBox 12"/>
          <p:cNvSpPr txBox="1"/>
          <p:nvPr/>
        </p:nvSpPr>
        <p:spPr>
          <a:xfrm>
            <a:off x="250794" y="2344450"/>
            <a:ext cx="2568606" cy="335541"/>
          </a:xfrm>
          <a:prstGeom prst="rect">
            <a:avLst/>
          </a:prstGeom>
        </p:spPr>
        <p:txBody>
          <a:bodyPr wrap="square" lIns="0" tIns="0" rIns="0" bIns="0" rtlCol="0" anchor="t">
            <a:spAutoFit/>
          </a:bodyPr>
          <a:lstStyle/>
          <a:p>
            <a:pPr algn="ctr">
              <a:lnSpc>
                <a:spcPts val="2800"/>
              </a:lnSpc>
              <a:spcBef>
                <a:spcPct val="0"/>
              </a:spcBef>
            </a:pPr>
            <a:r>
              <a:rPr lang="en-US" sz="2000" b="1" dirty="0">
                <a:solidFill>
                  <a:srgbClr val="000000"/>
                </a:solidFill>
                <a:latin typeface="Canva Sans Bold"/>
                <a:ea typeface="Canva Sans Bold"/>
                <a:cs typeface="Canva Sans Bold"/>
                <a:sym typeface="Canva Sans Bold"/>
              </a:rPr>
              <a:t>Flow of End to End</a:t>
            </a:r>
          </a:p>
        </p:txBody>
      </p:sp>
      <p:sp>
        <p:nvSpPr>
          <p:cNvPr id="13" name="TextBox 13"/>
          <p:cNvSpPr txBox="1"/>
          <p:nvPr/>
        </p:nvSpPr>
        <p:spPr>
          <a:xfrm>
            <a:off x="306423" y="2800138"/>
            <a:ext cx="3772733" cy="3707765"/>
          </a:xfrm>
          <a:prstGeom prst="rect">
            <a:avLst/>
          </a:prstGeom>
        </p:spPr>
        <p:txBody>
          <a:bodyPr lIns="0" tIns="0" rIns="0" bIns="0" rtlCol="0" anchor="t">
            <a:spAutoFit/>
          </a:bodyPr>
          <a:lstStyle/>
          <a:p>
            <a:pPr marL="302261" lvl="1" indent="-151130" algn="l">
              <a:lnSpc>
                <a:spcPts val="1960"/>
              </a:lnSpc>
              <a:buAutoNum type="arabicPeriod"/>
            </a:pPr>
            <a:r>
              <a:rPr lang="en-US" sz="1400">
                <a:solidFill>
                  <a:srgbClr val="000000"/>
                </a:solidFill>
                <a:latin typeface="Canva Sans"/>
                <a:ea typeface="Canva Sans"/>
                <a:cs typeface="Canva Sans"/>
                <a:sym typeface="Canva Sans"/>
              </a:rPr>
              <a:t>Launches the Make My Trip Website</a:t>
            </a:r>
          </a:p>
          <a:p>
            <a:pPr marL="302261" lvl="1" indent="-151130" algn="l">
              <a:lnSpc>
                <a:spcPts val="1960"/>
              </a:lnSpc>
              <a:buAutoNum type="arabicPeriod"/>
            </a:pPr>
            <a:r>
              <a:rPr lang="en-US" sz="1400">
                <a:solidFill>
                  <a:srgbClr val="000000"/>
                </a:solidFill>
                <a:latin typeface="Canva Sans"/>
                <a:ea typeface="Canva Sans"/>
                <a:cs typeface="Canva Sans"/>
                <a:sym typeface="Canva Sans"/>
              </a:rPr>
              <a:t>Intermittent Modal Handling</a:t>
            </a:r>
          </a:p>
          <a:p>
            <a:pPr marL="302261" lvl="1" indent="-151130" algn="l">
              <a:lnSpc>
                <a:spcPts val="1960"/>
              </a:lnSpc>
              <a:buAutoNum type="arabicPeriod"/>
            </a:pPr>
            <a:r>
              <a:rPr lang="en-US" sz="1400">
                <a:solidFill>
                  <a:srgbClr val="000000"/>
                </a:solidFill>
                <a:latin typeface="Canva Sans"/>
                <a:ea typeface="Canva Sans"/>
                <a:cs typeface="Canva Sans"/>
                <a:sym typeface="Canva Sans"/>
              </a:rPr>
              <a:t>Entering cruise tab</a:t>
            </a:r>
          </a:p>
          <a:p>
            <a:pPr marL="302261" lvl="1" indent="-151130" algn="l">
              <a:lnSpc>
                <a:spcPts val="1960"/>
              </a:lnSpc>
              <a:buAutoNum type="arabicPeriod"/>
            </a:pPr>
            <a:r>
              <a:rPr lang="en-US" sz="1400">
                <a:solidFill>
                  <a:srgbClr val="000000"/>
                </a:solidFill>
                <a:latin typeface="Canva Sans"/>
                <a:ea typeface="Canva Sans"/>
                <a:cs typeface="Canva Sans"/>
                <a:sym typeface="Canva Sans"/>
              </a:rPr>
              <a:t>Search Parameter Injection</a:t>
            </a:r>
          </a:p>
          <a:p>
            <a:pPr marL="302261" lvl="1" indent="-151130" algn="l">
              <a:lnSpc>
                <a:spcPts val="1960"/>
              </a:lnSpc>
              <a:buAutoNum type="arabicPeriod"/>
            </a:pPr>
            <a:r>
              <a:rPr lang="en-US" sz="1400">
                <a:solidFill>
                  <a:srgbClr val="000000"/>
                </a:solidFill>
                <a:latin typeface="Canva Sans"/>
                <a:ea typeface="Canva Sans"/>
                <a:cs typeface="Canva Sans"/>
                <a:sym typeface="Canva Sans"/>
              </a:rPr>
              <a:t>Cross-Domain Handshake</a:t>
            </a:r>
          </a:p>
          <a:p>
            <a:pPr marL="302261" lvl="1" indent="-151130" algn="l">
              <a:lnSpc>
                <a:spcPts val="1960"/>
              </a:lnSpc>
              <a:buAutoNum type="arabicPeriod"/>
            </a:pPr>
            <a:r>
              <a:rPr lang="en-US" sz="1400">
                <a:solidFill>
                  <a:srgbClr val="000000"/>
                </a:solidFill>
                <a:latin typeface="Canva Sans"/>
                <a:ea typeface="Canva Sans"/>
                <a:cs typeface="Canva Sans"/>
                <a:sym typeface="Canva Sans"/>
              </a:rPr>
              <a:t>Filter Verification and selects the first cruise</a:t>
            </a:r>
          </a:p>
          <a:p>
            <a:pPr marL="302261" lvl="1" indent="-151130" algn="l">
              <a:lnSpc>
                <a:spcPts val="1960"/>
              </a:lnSpc>
              <a:buAutoNum type="arabicPeriod"/>
            </a:pPr>
            <a:r>
              <a:rPr lang="en-US" sz="1400">
                <a:solidFill>
                  <a:srgbClr val="000000"/>
                </a:solidFill>
                <a:latin typeface="Canva Sans"/>
                <a:ea typeface="Canva Sans"/>
                <a:cs typeface="Canva Sans"/>
                <a:sym typeface="Canva Sans"/>
              </a:rPr>
              <a:t>Cabin Selection </a:t>
            </a:r>
          </a:p>
          <a:p>
            <a:pPr marL="302261" lvl="1" indent="-151130" algn="l">
              <a:lnSpc>
                <a:spcPts val="1960"/>
              </a:lnSpc>
              <a:buAutoNum type="arabicPeriod"/>
            </a:pPr>
            <a:r>
              <a:rPr lang="en-US" sz="1400">
                <a:solidFill>
                  <a:srgbClr val="000000"/>
                </a:solidFill>
                <a:latin typeface="Canva Sans"/>
                <a:ea typeface="Canva Sans"/>
                <a:cs typeface="Canva Sans"/>
                <a:sym typeface="Canva Sans"/>
              </a:rPr>
              <a:t>Guaranteed Booking page</a:t>
            </a:r>
          </a:p>
          <a:p>
            <a:pPr marL="302261" lvl="1" indent="-151130" algn="l">
              <a:lnSpc>
                <a:spcPts val="1960"/>
              </a:lnSpc>
              <a:buAutoNum type="arabicPeriod"/>
            </a:pPr>
            <a:r>
              <a:rPr lang="en-US" sz="1400">
                <a:solidFill>
                  <a:srgbClr val="000000"/>
                </a:solidFill>
                <a:latin typeface="Canva Sans"/>
                <a:ea typeface="Canva Sans"/>
                <a:cs typeface="Canva Sans"/>
                <a:sym typeface="Canva Sans"/>
              </a:rPr>
              <a:t>Passenger Matrix Processing</a:t>
            </a:r>
          </a:p>
          <a:p>
            <a:pPr marL="302261" lvl="1" indent="-151130" algn="l">
              <a:lnSpc>
                <a:spcPts val="1960"/>
              </a:lnSpc>
              <a:buAutoNum type="arabicPeriod"/>
            </a:pPr>
            <a:r>
              <a:rPr lang="en-US" sz="1400">
                <a:solidFill>
                  <a:srgbClr val="000000"/>
                </a:solidFill>
                <a:latin typeface="Canva Sans"/>
                <a:ea typeface="Canva Sans"/>
                <a:cs typeface="Canva Sans"/>
                <a:sym typeface="Canva Sans"/>
              </a:rPr>
              <a:t>Contact Details and Dining options</a:t>
            </a:r>
          </a:p>
          <a:p>
            <a:pPr marL="302261" lvl="1" indent="-151130" algn="l">
              <a:lnSpc>
                <a:spcPts val="1960"/>
              </a:lnSpc>
              <a:buAutoNum type="arabicPeriod"/>
            </a:pPr>
            <a:r>
              <a:rPr lang="en-US" sz="1400">
                <a:solidFill>
                  <a:srgbClr val="000000"/>
                </a:solidFill>
                <a:latin typeface="Canva Sans"/>
                <a:ea typeface="Canva Sans"/>
                <a:cs typeface="Canva Sans"/>
                <a:sym typeface="Canva Sans"/>
              </a:rPr>
              <a:t>Injection of PAN ID and proceed</a:t>
            </a:r>
          </a:p>
          <a:p>
            <a:pPr marL="302261" lvl="1" indent="-151130" algn="l">
              <a:lnSpc>
                <a:spcPts val="1960"/>
              </a:lnSpc>
              <a:buAutoNum type="arabicPeriod"/>
            </a:pPr>
            <a:r>
              <a:rPr lang="en-US" sz="1400">
                <a:solidFill>
                  <a:srgbClr val="000000"/>
                </a:solidFill>
                <a:latin typeface="Canva Sans"/>
                <a:ea typeface="Canva Sans"/>
                <a:cs typeface="Canva Sans"/>
                <a:sym typeface="Canva Sans"/>
              </a:rPr>
              <a:t>Checkout page with price details</a:t>
            </a:r>
          </a:p>
          <a:p>
            <a:pPr marL="302261" lvl="1" indent="-151130" algn="l">
              <a:lnSpc>
                <a:spcPts val="1960"/>
              </a:lnSpc>
              <a:buAutoNum type="arabicPeriod"/>
            </a:pPr>
            <a:r>
              <a:rPr lang="en-US" sz="1400">
                <a:solidFill>
                  <a:srgbClr val="000000"/>
                </a:solidFill>
                <a:latin typeface="Canva Sans"/>
                <a:ea typeface="Canva Sans"/>
                <a:cs typeface="Canva Sans"/>
                <a:sym typeface="Canva Sans"/>
              </a:rPr>
              <a:t> Teardown &amp; Artifact Capture</a:t>
            </a:r>
          </a:p>
          <a:p>
            <a:pPr algn="l">
              <a:lnSpc>
                <a:spcPts val="1960"/>
              </a:lnSpc>
            </a:pPr>
            <a:endParaRPr lang="en-US" sz="1400">
              <a:solidFill>
                <a:srgbClr val="000000"/>
              </a:solidFill>
              <a:latin typeface="Canva Sans"/>
              <a:ea typeface="Canva Sans"/>
              <a:cs typeface="Canva Sans"/>
              <a:sym typeface="Canva Sans"/>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5400000">
            <a:off x="4374295" y="2104078"/>
            <a:ext cx="7483383" cy="3275227"/>
          </a:xfrm>
          <a:custGeom>
            <a:avLst/>
            <a:gdLst/>
            <a:ahLst/>
            <a:cxnLst/>
            <a:rect l="l" t="t" r="r" b="b"/>
            <a:pathLst>
              <a:path w="7483383" h="3275227">
                <a:moveTo>
                  <a:pt x="0" y="0"/>
                </a:moveTo>
                <a:lnTo>
                  <a:pt x="7483383" y="0"/>
                </a:lnTo>
                <a:lnTo>
                  <a:pt x="7483383" y="3275227"/>
                </a:lnTo>
                <a:lnTo>
                  <a:pt x="0" y="3275227"/>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3" name="Freeform 3"/>
          <p:cNvSpPr/>
          <p:nvPr/>
        </p:nvSpPr>
        <p:spPr>
          <a:xfrm>
            <a:off x="250794" y="169534"/>
            <a:ext cx="1068911" cy="1068911"/>
          </a:xfrm>
          <a:custGeom>
            <a:avLst/>
            <a:gdLst/>
            <a:ahLst/>
            <a:cxnLst/>
            <a:rect l="l" t="t" r="r" b="b"/>
            <a:pathLst>
              <a:path w="1068911" h="1068911">
                <a:moveTo>
                  <a:pt x="0" y="0"/>
                </a:moveTo>
                <a:lnTo>
                  <a:pt x="1068911" y="0"/>
                </a:lnTo>
                <a:lnTo>
                  <a:pt x="1068911" y="1068911"/>
                </a:lnTo>
                <a:lnTo>
                  <a:pt x="0" y="1068911"/>
                </a:lnTo>
                <a:lnTo>
                  <a:pt x="0" y="0"/>
                </a:lnTo>
                <a:close/>
              </a:path>
            </a:pathLst>
          </a:custGeom>
          <a:blipFill>
            <a:blip r:embed="rId3"/>
            <a:stretch>
              <a:fillRect/>
            </a:stretch>
          </a:blipFill>
        </p:spPr>
      </p:sp>
      <p:sp>
        <p:nvSpPr>
          <p:cNvPr id="4" name="TextBox 4"/>
          <p:cNvSpPr txBox="1"/>
          <p:nvPr/>
        </p:nvSpPr>
        <p:spPr>
          <a:xfrm>
            <a:off x="250794" y="1554660"/>
            <a:ext cx="7363306" cy="5172075"/>
          </a:xfrm>
          <a:prstGeom prst="rect">
            <a:avLst/>
          </a:prstGeom>
        </p:spPr>
        <p:txBody>
          <a:bodyPr lIns="0" tIns="0" rIns="0" bIns="0" rtlCol="0" anchor="t">
            <a:spAutoFit/>
          </a:bodyPr>
          <a:lstStyle/>
          <a:p>
            <a:pPr algn="l">
              <a:lnSpc>
                <a:spcPts val="2239"/>
              </a:lnSpc>
            </a:pPr>
            <a:r>
              <a:rPr lang="en-US" sz="1599" b="1">
                <a:solidFill>
                  <a:srgbClr val="000000"/>
                </a:solidFill>
                <a:latin typeface="Canva Sans Bold"/>
                <a:ea typeface="Canva Sans Bold"/>
                <a:cs typeface="Canva Sans Bold"/>
                <a:sym typeface="Canva Sans Bold"/>
              </a:rPr>
              <a:t>1. AUTOMATION FRAMEWORK</a:t>
            </a:r>
          </a:p>
          <a:p>
            <a:pPr algn="l">
              <a:lnSpc>
                <a:spcPts val="1960"/>
              </a:lnSpc>
            </a:pPr>
            <a:r>
              <a:rPr lang="en-US" sz="1400" b="1">
                <a:solidFill>
                  <a:srgbClr val="000000"/>
                </a:solidFill>
                <a:latin typeface="Canva Sans Bold"/>
                <a:ea typeface="Canva Sans Bold"/>
                <a:cs typeface="Canva Sans Bold"/>
                <a:sym typeface="Canva Sans Bold"/>
              </a:rPr>
              <a:t> </a:t>
            </a:r>
            <a:r>
              <a:rPr lang="en-US" sz="1400">
                <a:solidFill>
                  <a:srgbClr val="000000"/>
                </a:solidFill>
                <a:latin typeface="Canva Sans"/>
                <a:ea typeface="Canva Sans"/>
                <a:cs typeface="Canva Sans"/>
                <a:sym typeface="Canva Sans"/>
              </a:rPr>
              <a:t>Selenium WebDriver + PyTest + Behave BDD with Page Object Model (POM) architecture.</a:t>
            </a:r>
          </a:p>
          <a:p>
            <a:pPr algn="l">
              <a:lnSpc>
                <a:spcPts val="2239"/>
              </a:lnSpc>
            </a:pPr>
            <a:endParaRPr lang="en-US" sz="1400">
              <a:solidFill>
                <a:srgbClr val="000000"/>
              </a:solidFill>
              <a:latin typeface="Canva Sans"/>
              <a:ea typeface="Canva Sans"/>
              <a:cs typeface="Canva Sans"/>
              <a:sym typeface="Canva Sans"/>
            </a:endParaRPr>
          </a:p>
          <a:p>
            <a:pPr algn="l">
              <a:lnSpc>
                <a:spcPts val="2239"/>
              </a:lnSpc>
            </a:pPr>
            <a:r>
              <a:rPr lang="en-US" sz="1599" b="1">
                <a:solidFill>
                  <a:srgbClr val="000000"/>
                </a:solidFill>
                <a:latin typeface="Canva Sans Bold"/>
                <a:ea typeface="Canva Sans Bold"/>
                <a:cs typeface="Canva Sans Bold"/>
                <a:sym typeface="Canva Sans Bold"/>
              </a:rPr>
              <a:t>2. TEST COVERAGE</a:t>
            </a:r>
          </a:p>
          <a:p>
            <a:pPr algn="l">
              <a:lnSpc>
                <a:spcPts val="1960"/>
              </a:lnSpc>
            </a:pPr>
            <a:r>
              <a:rPr lang="en-US" sz="1400">
                <a:solidFill>
                  <a:srgbClr val="000000"/>
                </a:solidFill>
                <a:latin typeface="Canva Sans"/>
                <a:ea typeface="Canva Sans"/>
                <a:cs typeface="Canva Sans"/>
                <a:sym typeface="Canva Sans"/>
              </a:rPr>
              <a:t>End-to-End, Positive &amp; Negative test cases across all team modules .</a:t>
            </a:r>
          </a:p>
          <a:p>
            <a:pPr algn="l">
              <a:lnSpc>
                <a:spcPts val="1960"/>
              </a:lnSpc>
            </a:pPr>
            <a:endParaRPr lang="en-US" sz="1400">
              <a:solidFill>
                <a:srgbClr val="000000"/>
              </a:solidFill>
              <a:latin typeface="Canva Sans"/>
              <a:ea typeface="Canva Sans"/>
              <a:cs typeface="Canva Sans"/>
              <a:sym typeface="Canva Sans"/>
            </a:endParaRPr>
          </a:p>
          <a:p>
            <a:pPr algn="l">
              <a:lnSpc>
                <a:spcPts val="2239"/>
              </a:lnSpc>
            </a:pPr>
            <a:r>
              <a:rPr lang="en-US" sz="1599" b="1">
                <a:solidFill>
                  <a:srgbClr val="000000"/>
                </a:solidFill>
                <a:latin typeface="Canva Sans Bold"/>
                <a:ea typeface="Canva Sans Bold"/>
                <a:cs typeface="Canva Sans Bold"/>
                <a:sym typeface="Canva Sans Bold"/>
              </a:rPr>
              <a:t>3. ALLURE REPORTS</a:t>
            </a:r>
          </a:p>
          <a:p>
            <a:pPr algn="l">
              <a:lnSpc>
                <a:spcPts val="1960"/>
              </a:lnSpc>
            </a:pPr>
            <a:r>
              <a:rPr lang="en-US" sz="1400">
                <a:solidFill>
                  <a:srgbClr val="000000"/>
                </a:solidFill>
                <a:latin typeface="Canva Sans"/>
                <a:ea typeface="Canva Sans"/>
                <a:cs typeface="Canva Sans"/>
                <a:sym typeface="Canva Sans"/>
              </a:rPr>
              <a:t>Professional HTML reports with step-by-step execution flow, screenshots &amp; history.</a:t>
            </a:r>
          </a:p>
          <a:p>
            <a:pPr algn="l">
              <a:lnSpc>
                <a:spcPts val="1960"/>
              </a:lnSpc>
            </a:pPr>
            <a:endParaRPr lang="en-US" sz="1400">
              <a:solidFill>
                <a:srgbClr val="000000"/>
              </a:solidFill>
              <a:latin typeface="Canva Sans"/>
              <a:ea typeface="Canva Sans"/>
              <a:cs typeface="Canva Sans"/>
              <a:sym typeface="Canva Sans"/>
            </a:endParaRPr>
          </a:p>
          <a:p>
            <a:pPr algn="l">
              <a:lnSpc>
                <a:spcPts val="2239"/>
              </a:lnSpc>
            </a:pPr>
            <a:r>
              <a:rPr lang="en-US" sz="1599" b="1">
                <a:solidFill>
                  <a:srgbClr val="000000"/>
                </a:solidFill>
                <a:latin typeface="Canva Sans Bold"/>
                <a:ea typeface="Canva Sans Bold"/>
                <a:cs typeface="Canva Sans Bold"/>
                <a:sym typeface="Canva Sans Bold"/>
              </a:rPr>
              <a:t>4. SCREENSHOT EVIDENCE</a:t>
            </a:r>
          </a:p>
          <a:p>
            <a:pPr algn="l">
              <a:lnSpc>
                <a:spcPts val="1960"/>
              </a:lnSpc>
            </a:pPr>
            <a:r>
              <a:rPr lang="en-US" sz="1400">
                <a:solidFill>
                  <a:srgbClr val="000000"/>
                </a:solidFill>
                <a:latin typeface="Canva Sans"/>
                <a:ea typeface="Canva Sans"/>
                <a:cs typeface="Canva Sans"/>
                <a:sym typeface="Canva Sans"/>
              </a:rPr>
              <a:t>Automated screenshot capture at each key execution stage for audit &amp; debugging.</a:t>
            </a:r>
          </a:p>
          <a:p>
            <a:pPr algn="l">
              <a:lnSpc>
                <a:spcPts val="2239"/>
              </a:lnSpc>
            </a:pPr>
            <a:endParaRPr lang="en-US" sz="1400">
              <a:solidFill>
                <a:srgbClr val="000000"/>
              </a:solidFill>
              <a:latin typeface="Canva Sans"/>
              <a:ea typeface="Canva Sans"/>
              <a:cs typeface="Canva Sans"/>
              <a:sym typeface="Canva Sans"/>
            </a:endParaRPr>
          </a:p>
          <a:p>
            <a:pPr algn="l">
              <a:lnSpc>
                <a:spcPts val="2239"/>
              </a:lnSpc>
            </a:pPr>
            <a:r>
              <a:rPr lang="en-US" sz="1599" b="1">
                <a:solidFill>
                  <a:srgbClr val="000000"/>
                </a:solidFill>
                <a:latin typeface="Canva Sans Bold"/>
                <a:ea typeface="Canva Sans Bold"/>
                <a:cs typeface="Canva Sans Bold"/>
                <a:sym typeface="Canva Sans Bold"/>
              </a:rPr>
              <a:t>5. EXECUTION LOGS</a:t>
            </a:r>
          </a:p>
          <a:p>
            <a:pPr algn="l">
              <a:lnSpc>
                <a:spcPts val="1960"/>
              </a:lnSpc>
            </a:pPr>
            <a:r>
              <a:rPr lang="en-US" sz="1400">
                <a:solidFill>
                  <a:srgbClr val="000000"/>
                </a:solidFill>
                <a:latin typeface="Canva Sans"/>
                <a:ea typeface="Canva Sans"/>
                <a:cs typeface="Canva Sans"/>
                <a:sym typeface="Canva Sans"/>
              </a:rPr>
              <a:t>Detailed Python logging for execution tracking and failure diagnosis, the log reports were made.</a:t>
            </a:r>
          </a:p>
          <a:p>
            <a:pPr algn="l">
              <a:lnSpc>
                <a:spcPts val="1960"/>
              </a:lnSpc>
            </a:pPr>
            <a:endParaRPr lang="en-US" sz="1400">
              <a:solidFill>
                <a:srgbClr val="000000"/>
              </a:solidFill>
              <a:latin typeface="Canva Sans"/>
              <a:ea typeface="Canva Sans"/>
              <a:cs typeface="Canva Sans"/>
              <a:sym typeface="Canva Sans"/>
            </a:endParaRPr>
          </a:p>
          <a:p>
            <a:pPr algn="l">
              <a:lnSpc>
                <a:spcPts val="2239"/>
              </a:lnSpc>
            </a:pPr>
            <a:r>
              <a:rPr lang="en-US" sz="1599" b="1">
                <a:solidFill>
                  <a:srgbClr val="000000"/>
                </a:solidFill>
                <a:latin typeface="Canva Sans Bold"/>
                <a:ea typeface="Canva Sans Bold"/>
                <a:cs typeface="Canva Sans Bold"/>
                <a:sym typeface="Canva Sans Bold"/>
              </a:rPr>
              <a:t>6. GITHUB REPOSITORY</a:t>
            </a:r>
          </a:p>
          <a:p>
            <a:pPr algn="l">
              <a:lnSpc>
                <a:spcPts val="1960"/>
              </a:lnSpc>
            </a:pPr>
            <a:r>
              <a:rPr lang="en-US" sz="1400">
                <a:solidFill>
                  <a:srgbClr val="000000"/>
                </a:solidFill>
                <a:latin typeface="Canva Sans"/>
                <a:ea typeface="Canva Sans"/>
                <a:cs typeface="Canva Sans"/>
                <a:sym typeface="Canva Sans"/>
              </a:rPr>
              <a:t> Full codebase with README, feature files, page objects, and data files version-    controlled.</a:t>
            </a:r>
          </a:p>
        </p:txBody>
      </p:sp>
      <p:sp>
        <p:nvSpPr>
          <p:cNvPr id="5" name="TextBox 5"/>
          <p:cNvSpPr txBox="1"/>
          <p:nvPr/>
        </p:nvSpPr>
        <p:spPr>
          <a:xfrm>
            <a:off x="2516074" y="478790"/>
            <a:ext cx="3168294" cy="448310"/>
          </a:xfrm>
          <a:prstGeom prst="rect">
            <a:avLst/>
          </a:prstGeom>
        </p:spPr>
        <p:txBody>
          <a:bodyPr lIns="0" tIns="0" rIns="0" bIns="0" rtlCol="0" anchor="t">
            <a:spAutoFit/>
          </a:bodyPr>
          <a:lstStyle/>
          <a:p>
            <a:pPr algn="ctr">
              <a:lnSpc>
                <a:spcPts val="3640"/>
              </a:lnSpc>
              <a:spcBef>
                <a:spcPct val="0"/>
              </a:spcBef>
            </a:pPr>
            <a:r>
              <a:rPr lang="en-US" sz="2600" b="1">
                <a:solidFill>
                  <a:srgbClr val="000000"/>
                </a:solidFill>
                <a:latin typeface="Canva Sans Bold"/>
                <a:ea typeface="Canva Sans Bold"/>
                <a:cs typeface="Canva Sans Bold"/>
                <a:sym typeface="Canva Sans Bold"/>
              </a:rPr>
              <a:t>DELIVERABLES</a:t>
            </a:r>
          </a:p>
        </p:txBody>
      </p:sp>
      <p:sp>
        <p:nvSpPr>
          <p:cNvPr id="6" name="Freeform 6"/>
          <p:cNvSpPr/>
          <p:nvPr/>
        </p:nvSpPr>
        <p:spPr>
          <a:xfrm rot="-5400000">
            <a:off x="4526695" y="2256478"/>
            <a:ext cx="7483383" cy="3275227"/>
          </a:xfrm>
          <a:custGeom>
            <a:avLst/>
            <a:gdLst/>
            <a:ahLst/>
            <a:cxnLst/>
            <a:rect l="l" t="t" r="r" b="b"/>
            <a:pathLst>
              <a:path w="7483383" h="3275227">
                <a:moveTo>
                  <a:pt x="0" y="0"/>
                </a:moveTo>
                <a:lnTo>
                  <a:pt x="7483383" y="0"/>
                </a:lnTo>
                <a:lnTo>
                  <a:pt x="7483383" y="3275227"/>
                </a:lnTo>
                <a:lnTo>
                  <a:pt x="0" y="3275227"/>
                </a:lnTo>
                <a:lnTo>
                  <a:pt x="0" y="0"/>
                </a:lnTo>
                <a:close/>
              </a:path>
            </a:pathLst>
          </a:custGeom>
          <a:blipFill>
            <a:blip>
              <a:extLst>
                <a:ext uri="{96DAC541-7B7A-43D3-8B79-37D633B846F1}">
                  <asvg:svgBlip xmlns:asvg="http://schemas.microsoft.com/office/drawing/2016/SVG/main" r:embed="rId2"/>
                </a:ext>
              </a:extLst>
            </a:blip>
            <a:stretch>
              <a:fillRect/>
            </a:stretch>
          </a:blipFill>
        </p:spPr>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5400000">
            <a:off x="4374295" y="2104078"/>
            <a:ext cx="7483383" cy="3275227"/>
          </a:xfrm>
          <a:custGeom>
            <a:avLst/>
            <a:gdLst/>
            <a:ahLst/>
            <a:cxnLst/>
            <a:rect l="l" t="t" r="r" b="b"/>
            <a:pathLst>
              <a:path w="7483383" h="3275227">
                <a:moveTo>
                  <a:pt x="0" y="0"/>
                </a:moveTo>
                <a:lnTo>
                  <a:pt x="7483383" y="0"/>
                </a:lnTo>
                <a:lnTo>
                  <a:pt x="7483383" y="3275227"/>
                </a:lnTo>
                <a:lnTo>
                  <a:pt x="0" y="3275227"/>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3" name="Freeform 3"/>
          <p:cNvSpPr/>
          <p:nvPr/>
        </p:nvSpPr>
        <p:spPr>
          <a:xfrm>
            <a:off x="250794" y="169534"/>
            <a:ext cx="1068911" cy="1068911"/>
          </a:xfrm>
          <a:custGeom>
            <a:avLst/>
            <a:gdLst/>
            <a:ahLst/>
            <a:cxnLst/>
            <a:rect l="l" t="t" r="r" b="b"/>
            <a:pathLst>
              <a:path w="1068911" h="1068911">
                <a:moveTo>
                  <a:pt x="0" y="0"/>
                </a:moveTo>
                <a:lnTo>
                  <a:pt x="1068911" y="0"/>
                </a:lnTo>
                <a:lnTo>
                  <a:pt x="1068911" y="1068911"/>
                </a:lnTo>
                <a:lnTo>
                  <a:pt x="0" y="1068911"/>
                </a:lnTo>
                <a:lnTo>
                  <a:pt x="0" y="0"/>
                </a:lnTo>
                <a:close/>
              </a:path>
            </a:pathLst>
          </a:custGeom>
          <a:blipFill>
            <a:blip r:embed="rId3"/>
            <a:stretch>
              <a:fillRect/>
            </a:stretch>
          </a:blipFill>
        </p:spPr>
      </p:sp>
      <p:sp>
        <p:nvSpPr>
          <p:cNvPr id="4" name="TextBox 4"/>
          <p:cNvSpPr txBox="1"/>
          <p:nvPr/>
        </p:nvSpPr>
        <p:spPr>
          <a:xfrm>
            <a:off x="1815880" y="3170192"/>
            <a:ext cx="4488656" cy="1028700"/>
          </a:xfrm>
          <a:prstGeom prst="rect">
            <a:avLst/>
          </a:prstGeom>
        </p:spPr>
        <p:txBody>
          <a:bodyPr lIns="0" tIns="0" rIns="0" bIns="0" rtlCol="0" anchor="t">
            <a:spAutoFit/>
          </a:bodyPr>
          <a:lstStyle/>
          <a:p>
            <a:pPr algn="ctr">
              <a:lnSpc>
                <a:spcPts val="8400"/>
              </a:lnSpc>
              <a:spcBef>
                <a:spcPct val="0"/>
              </a:spcBef>
            </a:pPr>
            <a:r>
              <a:rPr lang="en-US" sz="6000" b="1">
                <a:solidFill>
                  <a:srgbClr val="000000"/>
                </a:solidFill>
                <a:latin typeface="Canva Sans Bold"/>
                <a:ea typeface="Canva Sans Bold"/>
                <a:cs typeface="Canva Sans Bold"/>
                <a:sym typeface="Canva Sans Bold"/>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15</TotalTime>
  <Words>1096</Words>
  <Application>Microsoft Office PowerPoint</Application>
  <PresentationFormat>Custom</PresentationFormat>
  <Paragraphs>172</Paragraphs>
  <Slides>10</Slides>
  <Notes>0</Notes>
  <HiddenSlides>0</HiddenSlides>
  <MMClips>0</MMClips>
  <ScaleCrop>false</ScaleCrop>
  <HeadingPairs>
    <vt:vector size="8" baseType="variant">
      <vt:variant>
        <vt:lpstr>Fonts Used</vt:lpstr>
      </vt:variant>
      <vt:variant>
        <vt:i4>6</vt:i4>
      </vt:variant>
      <vt:variant>
        <vt:lpstr>Theme</vt:lpstr>
      </vt:variant>
      <vt:variant>
        <vt:i4>1</vt:i4>
      </vt:variant>
      <vt:variant>
        <vt:lpstr>Embedded OLE Servers</vt:lpstr>
      </vt:variant>
      <vt:variant>
        <vt:i4>1</vt:i4>
      </vt:variant>
      <vt:variant>
        <vt:lpstr>Slide Titles</vt:lpstr>
      </vt:variant>
      <vt:variant>
        <vt:i4>10</vt:i4>
      </vt:variant>
    </vt:vector>
  </HeadingPairs>
  <TitlesOfParts>
    <vt:vector size="18" baseType="lpstr">
      <vt:lpstr>Calibri</vt:lpstr>
      <vt:lpstr>Hero</vt:lpstr>
      <vt:lpstr>Canva Sans Bold</vt:lpstr>
      <vt:lpstr>Arial</vt:lpstr>
      <vt:lpstr>Canva Sans</vt:lpstr>
      <vt:lpstr>Hero Bold</vt:lpstr>
      <vt:lpstr>Office Theme</vt:lpstr>
      <vt:lpstr>Microsoft Excel Worksheet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Domain Name: Booking System</dc:title>
  <cp:lastModifiedBy>Shivam Maurya</cp:lastModifiedBy>
  <cp:revision>2</cp:revision>
  <dcterms:created xsi:type="dcterms:W3CDTF">2006-08-16T00:00:00Z</dcterms:created>
  <dcterms:modified xsi:type="dcterms:W3CDTF">2026-05-25T17:41:35Z</dcterms:modified>
  <dc:identifier>DAHKkiEAAdk</dc:identifier>
</cp:coreProperties>
</file>